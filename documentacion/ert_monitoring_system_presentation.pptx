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embeddedFontLst>
    <p:embeddedFont>
      <p:font typeface="Robo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Fira Code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5A070C-275F-4D44-8D16-A6096F4801FB}">
  <a:tblStyle styleId="{4C5A070C-275F-4D44-8D16-A6096F4801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FiraCode-bold.fntdata"/><Relationship Id="rId10" Type="http://schemas.openxmlformats.org/officeDocument/2006/relationships/slide" Target="slides/slide5.xml"/><Relationship Id="rId32" Type="http://schemas.openxmlformats.org/officeDocument/2006/relationships/font" Target="fonts/FiraCod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6.png"/><Relationship Id="rId13" Type="http://schemas.openxmlformats.org/officeDocument/2006/relationships/image" Target="../media/image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6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Relationship Id="rId8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9.png"/><Relationship Id="rId13" Type="http://schemas.openxmlformats.org/officeDocument/2006/relationships/image" Target="../media/image3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Relationship Id="rId15" Type="http://schemas.openxmlformats.org/officeDocument/2006/relationships/image" Target="../media/image68.png"/><Relationship Id="rId14" Type="http://schemas.openxmlformats.org/officeDocument/2006/relationships/image" Target="../media/image31.png"/><Relationship Id="rId16" Type="http://schemas.openxmlformats.org/officeDocument/2006/relationships/image" Target="../media/image5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42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6.png"/><Relationship Id="rId8" Type="http://schemas.openxmlformats.org/officeDocument/2006/relationships/image" Target="../media/image20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59.png"/><Relationship Id="rId13" Type="http://schemas.openxmlformats.org/officeDocument/2006/relationships/image" Target="../media/image60.png"/><Relationship Id="rId1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95.png"/><Relationship Id="rId8" Type="http://schemas.openxmlformats.org/officeDocument/2006/relationships/image" Target="../media/image15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110.png"/><Relationship Id="rId8" Type="http://schemas.openxmlformats.org/officeDocument/2006/relationships/image" Target="../media/image16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8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8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71.png"/><Relationship Id="rId13" Type="http://schemas.openxmlformats.org/officeDocument/2006/relationships/image" Target="../media/image85.png"/><Relationship Id="rId1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88.png"/><Relationship Id="rId8" Type="http://schemas.openxmlformats.org/officeDocument/2006/relationships/image" Target="../media/image10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9.png"/><Relationship Id="rId10" Type="http://schemas.openxmlformats.org/officeDocument/2006/relationships/image" Target="../media/image114.png"/><Relationship Id="rId1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99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87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28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13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75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3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3.png"/><Relationship Id="rId10" Type="http://schemas.openxmlformats.org/officeDocument/2006/relationships/image" Target="../media/image121.png"/><Relationship Id="rId13" Type="http://schemas.openxmlformats.org/officeDocument/2006/relationships/image" Target="../media/image151.png"/><Relationship Id="rId12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22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17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5.png"/><Relationship Id="rId10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32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18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6.png"/><Relationship Id="rId10" Type="http://schemas.openxmlformats.org/officeDocument/2006/relationships/image" Target="../media/image143.png"/><Relationship Id="rId13" Type="http://schemas.openxmlformats.org/officeDocument/2006/relationships/image" Target="../media/image141.png"/><Relationship Id="rId1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15" Type="http://schemas.openxmlformats.org/officeDocument/2006/relationships/image" Target="../media/image142.png"/><Relationship Id="rId14" Type="http://schemas.openxmlformats.org/officeDocument/2006/relationships/image" Target="../media/image150.png"/><Relationship Id="rId17" Type="http://schemas.openxmlformats.org/officeDocument/2006/relationships/image" Target="../media/image166.png"/><Relationship Id="rId16" Type="http://schemas.openxmlformats.org/officeDocument/2006/relationships/image" Target="../media/image163.png"/><Relationship Id="rId5" Type="http://schemas.openxmlformats.org/officeDocument/2006/relationships/image" Target="../media/image2.png"/><Relationship Id="rId19" Type="http://schemas.openxmlformats.org/officeDocument/2006/relationships/image" Target="../media/image161.png"/><Relationship Id="rId6" Type="http://schemas.openxmlformats.org/officeDocument/2006/relationships/image" Target="../media/image19.png"/><Relationship Id="rId18" Type="http://schemas.openxmlformats.org/officeDocument/2006/relationships/image" Target="../media/image164.png"/><Relationship Id="rId7" Type="http://schemas.openxmlformats.org/officeDocument/2006/relationships/image" Target="../media/image130.png"/><Relationship Id="rId8" Type="http://schemas.openxmlformats.org/officeDocument/2006/relationships/image" Target="../media/image18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8.png"/><Relationship Id="rId10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8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75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9.png"/><Relationship Id="rId10" Type="http://schemas.openxmlformats.org/officeDocument/2006/relationships/image" Target="../media/image173.png"/><Relationship Id="rId13" Type="http://schemas.openxmlformats.org/officeDocument/2006/relationships/image" Target="../media/image193.png"/><Relationship Id="rId12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59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170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8.png"/><Relationship Id="rId1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89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86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1.png"/><Relationship Id="rId10" Type="http://schemas.openxmlformats.org/officeDocument/2006/relationships/image" Target="../media/image195.png"/><Relationship Id="rId13" Type="http://schemas.openxmlformats.org/officeDocument/2006/relationships/image" Target="../media/image200.png"/><Relationship Id="rId12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94.png"/><Relationship Id="rId14" Type="http://schemas.openxmlformats.org/officeDocument/2006/relationships/image" Target="../media/image199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190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7">
            <a:alphaModFix/>
          </a:blip>
          <a:srcRect b="-201" l="0" r="0" t="-201"/>
          <a:stretch/>
        </p:blipFill>
        <p:spPr>
          <a:xfrm>
            <a:off x="571500" y="1714500"/>
            <a:ext cx="7589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8">
            <a:alphaModFix/>
          </a:blip>
          <a:srcRect b="0" l="-2083" r="-2083" t="0"/>
          <a:stretch/>
        </p:blipFill>
        <p:spPr>
          <a:xfrm>
            <a:off x="952805" y="6286500"/>
            <a:ext cx="10287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952805" y="1714500"/>
            <a:ext cx="1047811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Sistema de Monitoreo ERT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952805" y="2572207"/>
            <a:ext cx="1047811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700"/>
              <a:buFont typeface="Roboto"/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Análisis de Resistividad Eléctrica del Subsuelo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952805" y="3143707"/>
            <a:ext cx="104013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📍</a:t>
            </a:r>
            <a:r>
              <a:rPr b="0" i="0" lang="en-US" sz="18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 East River Watershed, Colorado, USA (2016–2018)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952805" y="3905402"/>
            <a:ext cx="104013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Santiago Cano</a:t>
            </a:r>
            <a:r>
              <a:rPr b="0" i="0" lang="en-US" sz="18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b="0" i="0" lang="en-US" sz="18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 Maestría en Automatización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952805" y="4248302"/>
            <a:ext cx="1040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Taller Integrador: Fundamentos de Programación Científica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952805" y="4858207"/>
            <a:ext cx="1040130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Herramientas y Tecnologías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3"/>
          <p:cNvPicPr preferRelativeResize="0"/>
          <p:nvPr/>
        </p:nvPicPr>
        <p:blipFill rotWithShape="1">
          <a:blip r:embed="rId9">
            <a:alphaModFix/>
          </a:blip>
          <a:srcRect b="0" l="-57" r="-57" t="0"/>
          <a:stretch/>
        </p:blipFill>
        <p:spPr>
          <a:xfrm>
            <a:off x="966521" y="5191049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/>
        </p:nvSpPr>
        <p:spPr>
          <a:xfrm>
            <a:off x="1257300" y="5210251"/>
            <a:ext cx="8385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3"/>
          <p:cNvPicPr preferRelativeResize="0"/>
          <p:nvPr/>
        </p:nvPicPr>
        <p:blipFill rotWithShape="1">
          <a:blip r:embed="rId10">
            <a:alphaModFix/>
          </a:blip>
          <a:srcRect b="0" l="-1282" r="-1282" t="0"/>
          <a:stretch/>
        </p:blipFill>
        <p:spPr>
          <a:xfrm>
            <a:off x="2214677" y="5210251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/>
        </p:nvSpPr>
        <p:spPr>
          <a:xfrm>
            <a:off x="2514600" y="5210251"/>
            <a:ext cx="8385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86607" y="521025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/>
          <p:nvPr/>
        </p:nvSpPr>
        <p:spPr>
          <a:xfrm>
            <a:off x="3771900" y="5210251"/>
            <a:ext cx="10671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3"/>
          <p:cNvPicPr preferRelativeResize="0"/>
          <p:nvPr/>
        </p:nvPicPr>
        <p:blipFill rotWithShape="1">
          <a:blip r:embed="rId12">
            <a:alphaModFix/>
          </a:blip>
          <a:srcRect b="-63" l="0" r="0" t="-63"/>
          <a:stretch/>
        </p:blipFill>
        <p:spPr>
          <a:xfrm>
            <a:off x="4938674" y="5210251"/>
            <a:ext cx="181051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/>
          <p:nvPr/>
        </p:nvSpPr>
        <p:spPr>
          <a:xfrm>
            <a:off x="5219395" y="5210251"/>
            <a:ext cx="13149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Google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3"/>
          <p:cNvPicPr preferRelativeResize="0"/>
          <p:nvPr/>
        </p:nvPicPr>
        <p:blipFill rotWithShape="1">
          <a:blip r:embed="rId13">
            <a:alphaModFix/>
          </a:blip>
          <a:srcRect b="-456" l="0" r="0" t="-456"/>
          <a:stretch/>
        </p:blipFill>
        <p:spPr>
          <a:xfrm>
            <a:off x="6653174" y="5191049"/>
            <a:ext cx="21945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/>
          <p:nvPr/>
        </p:nvSpPr>
        <p:spPr>
          <a:xfrm>
            <a:off x="6953098" y="5210251"/>
            <a:ext cx="8385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25105" y="521025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/>
        </p:nvSpPr>
        <p:spPr>
          <a:xfrm>
            <a:off x="8210398" y="5210251"/>
            <a:ext cx="93360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Lovable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15">
            <a:alphaModFix/>
          </a:blip>
          <a:srcRect b="0" l="-80" r="-80" t="0"/>
          <a:stretch/>
        </p:blipFill>
        <p:spPr>
          <a:xfrm>
            <a:off x="9258300" y="521939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 txBox="1"/>
          <p:nvPr/>
        </p:nvSpPr>
        <p:spPr>
          <a:xfrm>
            <a:off x="9620402" y="5210251"/>
            <a:ext cx="6483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143000" y="5810098"/>
            <a:ext cx="102111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 Dataset: Dafflon, B. et al. (2025). ESS-DIVE. doi:10.15485/1969563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3"/>
          <p:cNvPicPr preferRelativeResize="0"/>
          <p:nvPr/>
        </p:nvPicPr>
        <p:blipFill rotWithShape="1">
          <a:blip r:embed="rId16">
            <a:alphaModFix/>
          </a:blip>
          <a:srcRect b="-1100" l="0" r="0" t="-1100"/>
          <a:stretch/>
        </p:blipFill>
        <p:spPr>
          <a:xfrm>
            <a:off x="952805" y="5820156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 txBox="1"/>
          <p:nvPr/>
        </p:nvSpPr>
        <p:spPr>
          <a:xfrm>
            <a:off x="952805" y="6476695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0782605" y="6476695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4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4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4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4"/>
          <p:cNvPicPr preferRelativeResize="0"/>
          <p:nvPr/>
        </p:nvPicPr>
        <p:blipFill rotWithShape="1">
          <a:blip r:embed="rId7">
            <a:alphaModFix/>
          </a:blip>
          <a:srcRect b="0" l="-405" r="-405" t="0"/>
          <a:stretch/>
        </p:blipFill>
        <p:spPr>
          <a:xfrm>
            <a:off x="761695" y="1333195"/>
            <a:ext cx="57607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096305" y="1333195"/>
            <a:ext cx="5352898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096305" y="2000707"/>
            <a:ext cx="5352898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096305" y="2667305"/>
            <a:ext cx="5352898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096305" y="3333902"/>
            <a:ext cx="5352898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096305" y="4000500"/>
            <a:ext cx="5352898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761695" y="4858207"/>
            <a:ext cx="3333902" cy="1086307"/>
          </a:xfrm>
          <a:prstGeom prst="roundRect">
            <a:avLst>
              <a:gd fmla="val 1181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61695" y="4858207"/>
            <a:ext cx="3333902" cy="38405"/>
          </a:xfrm>
          <a:prstGeom prst="roundRect">
            <a:avLst>
              <a:gd fmla="val 334167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429354" y="4858207"/>
            <a:ext cx="3333902" cy="1086307"/>
          </a:xfrm>
          <a:prstGeom prst="roundRect">
            <a:avLst>
              <a:gd fmla="val 1181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429354" y="4858207"/>
            <a:ext cx="3333902" cy="38405"/>
          </a:xfrm>
          <a:prstGeom prst="roundRect">
            <a:avLst>
              <a:gd fmla="val 334167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8096098" y="4858207"/>
            <a:ext cx="3333902" cy="1086307"/>
          </a:xfrm>
          <a:prstGeom prst="roundRect">
            <a:avLst>
              <a:gd fmla="val 1181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8096098" y="4858207"/>
            <a:ext cx="3333902" cy="38405"/>
          </a:xfrm>
          <a:prstGeom prst="roundRect">
            <a:avLst>
              <a:gd fmla="val 334167" name="adj"/>
            </a:avLst>
          </a:prstGeom>
          <a:solidFill>
            <a:srgbClr val="EAB308"/>
          </a:solidFill>
          <a:ln cap="flat" cmpd="sng" w="12700">
            <a:solidFill>
              <a:srgbClr val="EAB30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8">
            <a:alphaModFix/>
          </a:blip>
          <a:srcRect b="0" l="-2083" r="-2083" t="0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 txBox="1"/>
          <p:nvPr/>
        </p:nvSpPr>
        <p:spPr>
          <a:xfrm>
            <a:off x="761695" y="476402"/>
            <a:ext cx="108585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ontserrat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¿Cuál es el problema?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047902" y="1333195"/>
            <a:ext cx="4753051" cy="1105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Tomografía de Resistividad Eléctrica (ERT)</a:t>
            </a:r>
            <a:r>
              <a:rPr b="0" i="0" lang="en-US" sz="18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monitorea condiciones del subsuelo mediante la medición de resistividad aparente (Ohm·m).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1047902" y="2621585"/>
            <a:ext cx="4753051" cy="1467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El sistema opera con energía solar en alta montaña con </a:t>
            </a:r>
            <a:r>
              <a:rPr b="0" i="0" lang="en-US" sz="18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condiciones extremas</a:t>
            </a:r>
            <a:r>
              <a:rPr b="0" i="0" lang="en-US" sz="18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: congelamiento invernal, saturación por deshielo y fallas del hardware de adquisición.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4"/>
          <p:cNvPicPr preferRelativeResize="0"/>
          <p:nvPr/>
        </p:nvPicPr>
        <p:blipFill rotWithShape="1">
          <a:blip r:embed="rId9">
            <a:alphaModFix/>
          </a:blip>
          <a:srcRect b="0" l="-133" r="-133" t="0"/>
          <a:stretch/>
        </p:blipFill>
        <p:spPr>
          <a:xfrm>
            <a:off x="6314846" y="1476756"/>
            <a:ext cx="17190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4"/>
          <p:cNvPicPr preferRelativeResize="0"/>
          <p:nvPr/>
        </p:nvPicPr>
        <p:blipFill rotWithShape="1">
          <a:blip r:embed="rId10">
            <a:alphaModFix/>
          </a:blip>
          <a:srcRect b="0" l="-57" r="-57" t="0"/>
          <a:stretch/>
        </p:blipFill>
        <p:spPr>
          <a:xfrm>
            <a:off x="6301130" y="2143354"/>
            <a:ext cx="20025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4"/>
          <p:cNvPicPr preferRelativeResize="0"/>
          <p:nvPr/>
        </p:nvPicPr>
        <p:blipFill rotWithShape="1">
          <a:blip r:embed="rId11">
            <a:alphaModFix/>
          </a:blip>
          <a:srcRect b="0" l="-57" r="-57" t="0"/>
          <a:stretch/>
        </p:blipFill>
        <p:spPr>
          <a:xfrm>
            <a:off x="6301130" y="2809951"/>
            <a:ext cx="20025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4"/>
          <p:cNvPicPr preferRelativeResize="0"/>
          <p:nvPr/>
        </p:nvPicPr>
        <p:blipFill rotWithShape="1">
          <a:blip r:embed="rId12">
            <a:alphaModFix/>
          </a:blip>
          <a:srcRect b="0" l="-1528" r="-1528" t="0"/>
          <a:stretch/>
        </p:blipFill>
        <p:spPr>
          <a:xfrm>
            <a:off x="6319418" y="3486607"/>
            <a:ext cx="161849" cy="209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4"/>
          <p:cNvPicPr preferRelativeResize="0"/>
          <p:nvPr/>
        </p:nvPicPr>
        <p:blipFill rotWithShape="1">
          <a:blip r:embed="rId13">
            <a:alphaModFix/>
          </a:blip>
          <a:srcRect b="-600" l="0" r="0" t="-600"/>
          <a:stretch/>
        </p:blipFill>
        <p:spPr>
          <a:xfrm>
            <a:off x="6310274" y="4153205"/>
            <a:ext cx="181051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 txBox="1"/>
          <p:nvPr/>
        </p:nvSpPr>
        <p:spPr>
          <a:xfrm>
            <a:off x="6667805" y="1485900"/>
            <a:ext cx="505206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Sitio: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Pumphouse, East River Watershed, Colorado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6667805" y="2152498"/>
            <a:ext cx="5257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Período: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Nov 2016 – Ago 2018 (326 adquisiciones diarias)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667805" y="2819095"/>
            <a:ext cx="464881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Electrodos: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128 electrodos, espaciado 1.25 m, transecto 160 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6667805" y="3486607"/>
            <a:ext cx="5257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Sistema: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MPT (Multi-Phase Tech.) + paneles solares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6667805" y="4153205"/>
            <a:ext cx="5257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Datos: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Resistividad aparente (Ohm·m) por electrodo y fecha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4"/>
          <p:cNvPicPr preferRelativeResize="0"/>
          <p:nvPr/>
        </p:nvPicPr>
        <p:blipFill rotWithShape="1">
          <a:blip r:embed="rId14">
            <a:alphaModFix/>
          </a:blip>
          <a:srcRect b="0" l="-881" r="-881" t="0"/>
          <a:stretch/>
        </p:blipFill>
        <p:spPr>
          <a:xfrm>
            <a:off x="952805" y="5100523"/>
            <a:ext cx="237744" cy="267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19549" y="5100523"/>
            <a:ext cx="200254" cy="267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87207" y="5098694"/>
            <a:ext cx="247802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/>
        </p:nvSpPr>
        <p:spPr>
          <a:xfrm>
            <a:off x="1333195" y="5095951"/>
            <a:ext cx="267553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Congelamiento profundo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1333195" y="5381244"/>
            <a:ext cx="267553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Resistividad &gt; 1000 Ohm·m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000854" y="5095951"/>
            <a:ext cx="267553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Saturación crítica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000854" y="5381244"/>
            <a:ext cx="267553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Resistividad &lt; 100 Ohm·m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8667598" y="5095951"/>
            <a:ext cx="267553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Fallas de sensor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8667598" y="5381244"/>
            <a:ext cx="267553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Valores ≤ 1 o &gt; 5000 Ohm·m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761695" y="6476695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0972800" y="6476695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5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5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5905195" y="1619402"/>
            <a:ext cx="5544007" cy="3638398"/>
          </a:xfrm>
          <a:prstGeom prst="roundRect">
            <a:avLst>
              <a:gd fmla="val 105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61695" y="5524805"/>
            <a:ext cx="10705795" cy="476402"/>
          </a:xfrm>
          <a:prstGeom prst="roundRect">
            <a:avLst>
              <a:gd fmla="val 4606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61695" y="5524805"/>
            <a:ext cx="38405" cy="476402"/>
          </a:xfrm>
          <a:prstGeom prst="roundRect">
            <a:avLst>
              <a:gd fmla="val 571426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761695" y="476402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1 — Programación Básica en Python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761695" y="1000354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Validación y Clasificación de 10 Registros ERT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8">
            <a:alphaModFix/>
          </a:blip>
          <a:srcRect b="0" l="-1648" r="-1648" t="0"/>
          <a:stretch/>
        </p:blipFill>
        <p:spPr>
          <a:xfrm>
            <a:off x="790956" y="17337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1143000" y="1714500"/>
            <a:ext cx="52578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Carga de 10 registros reales de resistividad (2016–2018)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8">
            <a:alphaModFix/>
          </a:blip>
          <a:srcRect b="0" l="-1648" r="-1648" t="0"/>
          <a:stretch/>
        </p:blipFill>
        <p:spPr>
          <a:xfrm>
            <a:off x="790956" y="23052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1143000" y="2286000"/>
            <a:ext cx="46863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Validación de rango físico: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 – 5000 Ohm·m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8">
            <a:alphaModFix/>
          </a:blip>
          <a:srcRect b="0" l="-1648" r="-1648" t="0"/>
          <a:stretch/>
        </p:blipFill>
        <p:spPr>
          <a:xfrm>
            <a:off x="790956" y="28767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/>
        </p:nvSpPr>
        <p:spPr>
          <a:xfrm>
            <a:off x="1143000" y="2857500"/>
            <a:ext cx="52578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Ciclo </a:t>
            </a:r>
            <a:r>
              <a:rPr b="0" i="0" lang="en-US" sz="13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: recorre los 10 pares fecha-valor con </a:t>
            </a:r>
            <a:r>
              <a:rPr b="0" i="0" lang="en-US" sz="1300" u="none" cap="none" strike="noStrike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zip()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8">
            <a:alphaModFix/>
          </a:blip>
          <a:srcRect b="0" l="-1648" r="-1648" t="0"/>
          <a:stretch/>
        </p:blipFill>
        <p:spPr>
          <a:xfrm>
            <a:off x="790956" y="34482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1143000" y="3429000"/>
            <a:ext cx="46488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Ciclo </a:t>
            </a:r>
            <a:r>
              <a:rPr b="0" i="0" lang="en-US" sz="13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while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: emite alertas una por una con contador manual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8">
            <a:alphaModFix/>
          </a:blip>
          <a:srcRect b="0" l="-1648" r="-1648" t="0"/>
          <a:stretch/>
        </p:blipFill>
        <p:spPr>
          <a:xfrm>
            <a:off x="790956" y="4114800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1143000" y="4095598"/>
            <a:ext cx="46863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Fira Code"/>
              <a:buNone/>
            </a:pPr>
            <a:r>
              <a:rPr b="0" i="0" lang="en-US" sz="13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if / elif / else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: 4 ramas de clasificación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8">
            <a:alphaModFix/>
          </a:blip>
          <a:srcRect b="0" l="-1648" r="-1648" t="0"/>
          <a:stretch/>
        </p:blipFill>
        <p:spPr>
          <a:xfrm>
            <a:off x="790956" y="4686300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1143000" y="4667098"/>
            <a:ext cx="52578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3 tipos de alerta: </a:t>
            </a:r>
            <a:r>
              <a:rPr b="1" i="0" lang="en-US" sz="1300" u="none" cap="none" strike="noStrike">
                <a:solidFill>
                  <a:srgbClr val="EAB308"/>
                </a:solidFill>
                <a:latin typeface="Roboto"/>
                <a:ea typeface="Roboto"/>
                <a:cs typeface="Roboto"/>
                <a:sym typeface="Roboto"/>
              </a:rPr>
              <a:t>INVÁLIDO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i="0" lang="en-US" sz="13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ALERTA ROJA</a:t>
            </a:r>
            <a:r>
              <a:rPr b="0" i="0" lang="en-US" sz="13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i="0" lang="en-US" sz="13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ALERTA AZUL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" name="Google Shape;125;p5"/>
          <p:cNvGraphicFramePr/>
          <p:nvPr/>
        </p:nvGraphicFramePr>
        <p:xfrm>
          <a:off x="6048756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{4C5A070C-275F-4D44-8D16-A6096F4801FB}</a:tableStyleId>
              </a:tblPr>
              <a:tblGrid>
                <a:gridCol w="523950"/>
                <a:gridCol w="1309425"/>
                <a:gridCol w="1309425"/>
                <a:gridCol w="2095800"/>
              </a:tblGrid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5900" marB="759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5900" marB="759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Valor (Ω·m)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5900" marB="759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Estado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5900" marB="759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2016-11-02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312.5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NORMAL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2016-11-15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289.0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NORMAL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2016-12-01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4800.0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B82F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🔵 HELADO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2017-01-10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5200.0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⚠️ INVÁLIDO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2017-03-20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410.0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NORMAL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2017-05-05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-15.0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⚠️ INVÁLIDO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2017-07-14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88.0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F44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🔴 SATURADO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2017-09-30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175.0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NORMAL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2017-11-22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620.0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NORMAL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29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64748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2018-04-18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⚠️ INVÁLIDO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600" marB="57600" marR="75900" marL="759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5"/>
          <p:cNvSpPr txBox="1"/>
          <p:nvPr/>
        </p:nvSpPr>
        <p:spPr>
          <a:xfrm>
            <a:off x="705002" y="5524805"/>
            <a:ext cx="107826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Válidos: 7</a:t>
            </a:r>
            <a:r>
              <a:rPr b="0" i="0" lang="en-US" sz="150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i="0" lang="en-US" sz="1500" u="none" cap="none" strike="noStrike">
                <a:solidFill>
                  <a:srgbClr val="EAB308"/>
                </a:solidFill>
                <a:latin typeface="Montserrat"/>
                <a:ea typeface="Montserrat"/>
                <a:cs typeface="Montserrat"/>
                <a:sym typeface="Montserrat"/>
              </a:rPr>
              <a:t>Inválidos: 3</a:t>
            </a:r>
            <a:r>
              <a:rPr b="0" i="0" lang="en-US" sz="150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i="0" lang="en-US" sz="1500" u="none" cap="none" strike="noStrik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Alertas emitidas: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61695" y="6476695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0972800" y="6476695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6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6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6"/>
          <p:cNvPicPr preferRelativeResize="0"/>
          <p:nvPr/>
        </p:nvPicPr>
        <p:blipFill rotWithShape="1">
          <a:blip r:embed="rId7">
            <a:alphaModFix/>
          </a:blip>
          <a:srcRect b="-34" l="0" r="0" t="-34"/>
          <a:stretch/>
        </p:blipFill>
        <p:spPr>
          <a:xfrm>
            <a:off x="761695" y="1285646"/>
            <a:ext cx="10687507" cy="314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6"/>
          <p:cNvPicPr preferRelativeResize="0"/>
          <p:nvPr/>
        </p:nvPicPr>
        <p:blipFill rotWithShape="1">
          <a:blip r:embed="rId8">
            <a:alphaModFix/>
          </a:blip>
          <a:srcRect b="-1" l="0" r="0" t="-1"/>
          <a:stretch/>
        </p:blipFill>
        <p:spPr>
          <a:xfrm>
            <a:off x="761695" y="1591056"/>
            <a:ext cx="10687507" cy="420075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761695" y="5905195"/>
            <a:ext cx="10715854" cy="495605"/>
          </a:xfrm>
          <a:prstGeom prst="roundRect">
            <a:avLst>
              <a:gd fmla="val 42577" name="adj"/>
            </a:avLst>
          </a:prstGeom>
          <a:solidFill>
            <a:srgbClr val="1E293B">
              <a:alpha val="7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61695" y="5905195"/>
            <a:ext cx="38405" cy="495605"/>
          </a:xfrm>
          <a:prstGeom prst="roundRect">
            <a:avLst>
              <a:gd fmla="val 549448" name="adj"/>
            </a:avLst>
          </a:prstGeom>
          <a:solidFill>
            <a:srgbClr val="EAB308"/>
          </a:solidFill>
          <a:ln cap="flat" cmpd="sng" w="12700">
            <a:solidFill>
              <a:srgbClr val="EAB30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9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905256" y="1380744"/>
            <a:ext cx="114300" cy="1143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095451" y="1380744"/>
            <a:ext cx="114300" cy="114300"/>
          </a:xfrm>
          <a:prstGeom prst="ellipse">
            <a:avLst/>
          </a:prstGeom>
          <a:solidFill>
            <a:srgbClr val="EAB30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285646" y="1380744"/>
            <a:ext cx="114300" cy="1143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1466698" y="1352398"/>
            <a:ext cx="9258300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validacion_ert.py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1 — Fragmento de Código Clave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761695" y="905256"/>
            <a:ext cx="10782605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Ciclos </a:t>
            </a:r>
            <a:r>
              <a:rPr b="0" i="0" lang="en-US" sz="16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0" i="0" lang="en-US" sz="16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while</a:t>
            </a: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b="0" i="0" lang="en-US" sz="16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0" i="0" lang="en-US" sz="16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elif</a:t>
            </a: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0" i="0" lang="en-US" sz="16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aplicados a datos ERT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6"/>
          <p:cNvPicPr preferRelativeResize="0"/>
          <p:nvPr/>
        </p:nvPicPr>
        <p:blipFill rotWithShape="1">
          <a:blip r:embed="rId10">
            <a:alphaModFix/>
          </a:blip>
          <a:srcRect b="0" l="-133" r="-133" t="0"/>
          <a:stretch/>
        </p:blipFill>
        <p:spPr>
          <a:xfrm>
            <a:off x="981151" y="6029554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 txBox="1"/>
          <p:nvPr/>
        </p:nvSpPr>
        <p:spPr>
          <a:xfrm>
            <a:off x="1333195" y="5962802"/>
            <a:ext cx="100209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Lógica de 4 capas: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Inválido → Saturación → Congelado → Normal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333195" y="6152998"/>
            <a:ext cx="100209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El ciclo </a:t>
            </a:r>
            <a:r>
              <a:rPr b="0" i="0" lang="en-US" sz="9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WHILE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recorre la lista de alertas con contador manual, demostrando control de flujo sin usar </a:t>
            </a:r>
            <a:r>
              <a:rPr b="0" i="0" lang="en-US" sz="9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implícito.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946800" y="1659975"/>
            <a:ext cx="72495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── CICLO FOR: Validación y clasificación de cada registro ──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i, (fecha, valor) </a:t>
            </a: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enumerate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zip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(fechas, resistividades_raw)):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valor &lt;= RESISTIVIDAD_MIN_VALIDA </a:t>
            </a: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or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valor &gt; RESISTIVIDAD_MAX_VALIDA: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estado   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"⚠ INVÁLIDO"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condicion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"Error de sensor / Sin señal"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registros_invalidos.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append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((fecha, valor))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alertas.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append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"[{fecha}] DATO INVÁLIDO → {valor} Ω·m"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elif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valor &lt; UMBRAL_SATURACION:        </a:t>
            </a:r>
            <a:r>
              <a:rPr lang="en-US" sz="10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&lt; 100 Ohm·m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estado   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"🔴 ALERTA ROJA"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condicion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"Suelo saturado / Riesgo hídrico"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alertas.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append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"[{fecha}] SATURACIÓN → {valor:.1f} Ω·m"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elif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valor &gt; UMBRAL_CONGELADO:         </a:t>
            </a:r>
            <a:r>
              <a:rPr lang="en-US" sz="10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&gt; 1000 Ohm·m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estado   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"🔵 ALERTA AZUL"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condicion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"Suelo posiblemente helado"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alertas.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append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"[{fecha}] CONGELAMIENTO → {valor:.1f} Ω·m"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estado   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"✅ NORMAL"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condicion = 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"Condición operativa estable"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── CICLO WHILE: Emisión de alertas ──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indice_alerta = </a:t>
            </a:r>
            <a:r>
              <a:rPr lang="en-US" sz="100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while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indice_alerta &lt; 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len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(alertas):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000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"  [{indice_alerta + 1}] {alertas[indice_alerta]}"</a:t>
            </a: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indice_alerta += </a:t>
            </a:r>
            <a:r>
              <a:rPr lang="en-US" sz="100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000">
              <a:solidFill>
                <a:srgbClr val="EAB30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7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7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761695" y="1333195"/>
            <a:ext cx="5067605" cy="2143354"/>
          </a:xfrm>
          <a:prstGeom prst="roundRect">
            <a:avLst>
              <a:gd fmla="val 3034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61695" y="1333195"/>
            <a:ext cx="5067605" cy="38405"/>
          </a:xfrm>
          <a:prstGeom prst="roundRect">
            <a:avLst>
              <a:gd fmla="val 169311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381598" y="1333195"/>
            <a:ext cx="5067605" cy="2143354"/>
          </a:xfrm>
          <a:prstGeom prst="roundRect">
            <a:avLst>
              <a:gd fmla="val 3034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381598" y="1333195"/>
            <a:ext cx="5067605" cy="38405"/>
          </a:xfrm>
          <a:prstGeom prst="roundRect">
            <a:avLst>
              <a:gd fmla="val 169311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7">
            <a:alphaModFix/>
          </a:blip>
          <a:srcRect b="0" l="-47" r="-47" t="0"/>
          <a:stretch/>
        </p:blipFill>
        <p:spPr>
          <a:xfrm>
            <a:off x="761695" y="3619195"/>
            <a:ext cx="10687507" cy="256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7"/>
          <p:cNvPicPr preferRelativeResize="0"/>
          <p:nvPr/>
        </p:nvPicPr>
        <p:blipFill rotWithShape="1">
          <a:blip r:embed="rId8">
            <a:alphaModFix/>
          </a:blip>
          <a:srcRect b="0" l="-11" r="-11" t="0"/>
          <a:stretch/>
        </p:blipFill>
        <p:spPr>
          <a:xfrm>
            <a:off x="761695" y="3866998"/>
            <a:ext cx="10687507" cy="128564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761695" y="5333695"/>
            <a:ext cx="2572207" cy="733349"/>
          </a:xfrm>
          <a:prstGeom prst="roundRect">
            <a:avLst>
              <a:gd fmla="val 1943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761695" y="5333695"/>
            <a:ext cx="38405" cy="733349"/>
          </a:xfrm>
          <a:prstGeom prst="roundRect">
            <a:avLst>
              <a:gd fmla="val 371056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476549" y="5333695"/>
            <a:ext cx="2572207" cy="733349"/>
          </a:xfrm>
          <a:prstGeom prst="roundRect">
            <a:avLst>
              <a:gd fmla="val 1943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476549" y="5333695"/>
            <a:ext cx="38405" cy="733349"/>
          </a:xfrm>
          <a:prstGeom prst="roundRect">
            <a:avLst>
              <a:gd fmla="val 371056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191402" y="5333695"/>
            <a:ext cx="2572207" cy="733349"/>
          </a:xfrm>
          <a:prstGeom prst="roundRect">
            <a:avLst>
              <a:gd fmla="val 1943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191402" y="5333695"/>
            <a:ext cx="38405" cy="733349"/>
          </a:xfrm>
          <a:prstGeom prst="roundRect">
            <a:avLst>
              <a:gd fmla="val 371056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8906256" y="5333695"/>
            <a:ext cx="2572207" cy="733349"/>
          </a:xfrm>
          <a:prstGeom prst="roundRect">
            <a:avLst>
              <a:gd fmla="val 1943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906256" y="5333695"/>
            <a:ext cx="38405" cy="733349"/>
          </a:xfrm>
          <a:prstGeom prst="roundRect">
            <a:avLst>
              <a:gd fmla="val 371056" name="adj"/>
            </a:avLst>
          </a:prstGeom>
          <a:solidFill>
            <a:srgbClr val="EAB308"/>
          </a:solidFill>
          <a:ln cap="flat" cmpd="sng" w="12700">
            <a:solidFill>
              <a:srgbClr val="EAB30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9">
            <a:alphaModFix/>
          </a:blip>
          <a:srcRect b="0" l="-2083" r="-2083" t="0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905256" y="3685946"/>
            <a:ext cx="95098" cy="9509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076249" y="3685946"/>
            <a:ext cx="95098" cy="95098"/>
          </a:xfrm>
          <a:prstGeom prst="ellipse">
            <a:avLst/>
          </a:prstGeom>
          <a:solidFill>
            <a:srgbClr val="EAB30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248156" y="3685946"/>
            <a:ext cx="95098" cy="9509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905195" y="2190902"/>
            <a:ext cx="418795" cy="418795"/>
          </a:xfrm>
          <a:prstGeom prst="ellipse">
            <a:avLst/>
          </a:prstGeom>
          <a:solidFill>
            <a:srgbClr val="0F172A"/>
          </a:solidFill>
          <a:ln cap="flat" cmpd="sng" w="254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2 — Listas Nativas vs. Arreglos NumPy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761695" y="905256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Análisis de 30 días de resistividad estacional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952805" y="1476756"/>
            <a:ext cx="4782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🐍</a:t>
            </a: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Lista Nativa Python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1143000" y="1857146"/>
            <a:ext cx="45912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Recorrido con </a:t>
            </a:r>
            <a:r>
              <a:rPr b="0" i="0" lang="en-US" sz="9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for i in range(len(...))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1143000" y="2085746"/>
            <a:ext cx="45912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Máximo calculado con ciclo manual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1143000" y="2314346"/>
            <a:ext cx="45912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Mínimo calculado con ciclo manual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1143000" y="2542946"/>
            <a:ext cx="45912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Promedio: suma / </a:t>
            </a:r>
            <a:r>
              <a:rPr b="0" i="0" lang="en-US" sz="9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len(lista)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52805" y="2866644"/>
            <a:ext cx="4667098" cy="381305"/>
          </a:xfrm>
          <a:prstGeom prst="roundRect">
            <a:avLst>
              <a:gd fmla="val 47962" name="adj"/>
            </a:avLst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952805" y="2866644"/>
            <a:ext cx="28346" cy="381305"/>
          </a:xfrm>
          <a:prstGeom prst="roundRect">
            <a:avLst>
              <a:gd fmla="val 645170" name="adj"/>
            </a:avLst>
          </a:prstGeom>
          <a:solidFill>
            <a:srgbClr val="64748B"/>
          </a:solidFill>
          <a:ln cap="flat" cmpd="sng" w="12700">
            <a:solidFill>
              <a:srgbClr val="6474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952805" y="2866644"/>
            <a:ext cx="4743907" cy="3813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Resultado: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min=78.6, max=4900.3, prom=1624.45 Ω·m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5867705" y="2295144"/>
            <a:ext cx="4572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VS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6572707" y="1476756"/>
            <a:ext cx="4782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⚡</a:t>
            </a: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Arreglo NumPy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6762902" y="1857146"/>
            <a:ext cx="4591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np.array(...)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en-US" sz="9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shape(30,) dtype float64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6762902" y="2072030"/>
            <a:ext cx="4591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np.min()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= 78.6 Ω·m </a:t>
            </a:r>
            <a:r>
              <a:rPr b="0" i="0" lang="en-US" sz="11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✅ Coincide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762902" y="2286000"/>
            <a:ext cx="4591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np.max()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= 4900.3 Ω·m </a:t>
            </a:r>
            <a:r>
              <a:rPr b="0" i="0" lang="en-US" sz="11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✅ Coincide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6762902" y="2499970"/>
            <a:ext cx="4591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np.mean()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= 1624.45 Ω·m </a:t>
            </a:r>
            <a:r>
              <a:rPr b="0" i="0" lang="en-US" sz="11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✅ Coincide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762902" y="2714854"/>
            <a:ext cx="4591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np.median()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= 515.55 Ω·m 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(nueva métrica)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762902" y="2928823"/>
            <a:ext cx="4591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np.std()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= 1813.22 Ω·m 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(nueva métrica)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952805" y="3991356"/>
            <a:ext cx="44010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Operación 2: Normalización Min-Max (vectorizada)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5238598" y="3991356"/>
            <a:ext cx="5772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arreglo_normalizado = (arreglo_ert - np_min) / (np_max - np_min)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10896905" y="3991356"/>
            <a:ext cx="294253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Operación 3: Gradiente temporal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13725144" y="3991356"/>
            <a:ext cx="119146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gradiente 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14839798" y="3991356"/>
            <a:ext cx="67665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np.diff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15439644" y="3991356"/>
            <a:ext cx="12765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(arreglo_ert)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6640251" y="3991356"/>
            <a:ext cx="446775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Detecta cambios &gt; 500 Ω·m/día → ⚡ Cambio brusco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7318" y="5591556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 txBox="1"/>
          <p:nvPr/>
        </p:nvSpPr>
        <p:spPr>
          <a:xfrm>
            <a:off x="1190549" y="5447995"/>
            <a:ext cx="20802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Saturación &lt; 100 Ω·m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190549" y="5639105"/>
            <a:ext cx="20802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→ 3 días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(10%)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38398" y="559155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/>
          <p:nvPr/>
        </p:nvSpPr>
        <p:spPr>
          <a:xfrm>
            <a:off x="3905402" y="5447995"/>
            <a:ext cx="20802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Normal 100–1000 Ω·m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3905402" y="5639105"/>
            <a:ext cx="20802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→ 15 días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(50%)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7"/>
          <p:cNvPicPr preferRelativeResize="0"/>
          <p:nvPr/>
        </p:nvPicPr>
        <p:blipFill rotWithShape="1">
          <a:blip r:embed="rId12">
            <a:alphaModFix/>
          </a:blip>
          <a:srcRect b="0" l="-1648" r="-1648" t="0"/>
          <a:stretch/>
        </p:blipFill>
        <p:spPr>
          <a:xfrm>
            <a:off x="6362395" y="559155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6620256" y="5447995"/>
            <a:ext cx="20802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Congelado &gt; 1000 Ω·m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6620256" y="5639105"/>
            <a:ext cx="20802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→ 12 días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(40%)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7"/>
          <p:cNvPicPr preferRelativeResize="0"/>
          <p:nvPr/>
        </p:nvPicPr>
        <p:blipFill rotWithShape="1">
          <a:blip r:embed="rId13">
            <a:alphaModFix/>
          </a:blip>
          <a:srcRect b="0" l="-1648" r="-1648" t="0"/>
          <a:stretch/>
        </p:blipFill>
        <p:spPr>
          <a:xfrm>
            <a:off x="9077249" y="559155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 txBox="1"/>
          <p:nvPr/>
        </p:nvSpPr>
        <p:spPr>
          <a:xfrm>
            <a:off x="9334195" y="5447995"/>
            <a:ext cx="20802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Cambios &gt; 500 Ω·m/d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9334195" y="5639105"/>
            <a:ext cx="224028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→ 8 transiciones detectadas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761695" y="6476695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10972800" y="6476695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8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8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8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761695" y="1333195"/>
            <a:ext cx="2542946" cy="857707"/>
          </a:xfrm>
          <a:prstGeom prst="roundRect">
            <a:avLst>
              <a:gd fmla="val 1895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761695" y="1333195"/>
            <a:ext cx="2542946" cy="38405"/>
          </a:xfrm>
          <a:prstGeom prst="roundRect">
            <a:avLst>
              <a:gd fmla="val 423278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476549" y="1333195"/>
            <a:ext cx="2542946" cy="857707"/>
          </a:xfrm>
          <a:prstGeom prst="roundRect">
            <a:avLst>
              <a:gd fmla="val 1895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476549" y="1333195"/>
            <a:ext cx="2542946" cy="38405"/>
          </a:xfrm>
          <a:prstGeom prst="roundRect">
            <a:avLst>
              <a:gd fmla="val 423278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191402" y="1333195"/>
            <a:ext cx="2542946" cy="857707"/>
          </a:xfrm>
          <a:prstGeom prst="roundRect">
            <a:avLst>
              <a:gd fmla="val 1895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191402" y="1333195"/>
            <a:ext cx="2542946" cy="38405"/>
          </a:xfrm>
          <a:prstGeom prst="roundRect">
            <a:avLst>
              <a:gd fmla="val 423278" name="adj"/>
            </a:avLst>
          </a:prstGeom>
          <a:solidFill>
            <a:srgbClr val="A855F7"/>
          </a:solidFill>
          <a:ln cap="flat" cmpd="sng" w="12700">
            <a:solidFill>
              <a:srgbClr val="A85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8906256" y="1333195"/>
            <a:ext cx="2542946" cy="857707"/>
          </a:xfrm>
          <a:prstGeom prst="roundRect">
            <a:avLst>
              <a:gd fmla="val 1895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8906256" y="1333195"/>
            <a:ext cx="2542946" cy="38405"/>
          </a:xfrm>
          <a:prstGeom prst="roundRect">
            <a:avLst>
              <a:gd fmla="val 423278" name="adj"/>
            </a:avLst>
          </a:prstGeom>
          <a:solidFill>
            <a:srgbClr val="A855F7"/>
          </a:solidFill>
          <a:ln cap="flat" cmpd="sng" w="12700">
            <a:solidFill>
              <a:srgbClr val="A85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61695" y="2333549"/>
            <a:ext cx="10687507" cy="1876349"/>
          </a:xfrm>
          <a:prstGeom prst="roundRect">
            <a:avLst>
              <a:gd fmla="val 3958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8"/>
          <p:cNvPicPr preferRelativeResize="0"/>
          <p:nvPr/>
        </p:nvPicPr>
        <p:blipFill rotWithShape="1">
          <a:blip r:embed="rId7">
            <a:alphaModFix/>
          </a:blip>
          <a:srcRect b="-11" l="0" r="0" t="-11"/>
          <a:stretch/>
        </p:blipFill>
        <p:spPr>
          <a:xfrm>
            <a:off x="761695" y="4381805"/>
            <a:ext cx="10687507" cy="295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8"/>
          <p:cNvPicPr preferRelativeResize="0"/>
          <p:nvPr/>
        </p:nvPicPr>
        <p:blipFill rotWithShape="1">
          <a:blip r:embed="rId8">
            <a:alphaModFix/>
          </a:blip>
          <a:srcRect b="0" l="-13" r="-13" t="0"/>
          <a:stretch/>
        </p:blipFill>
        <p:spPr>
          <a:xfrm>
            <a:off x="761695" y="4667098"/>
            <a:ext cx="10687507" cy="1723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8"/>
          <p:cNvPicPr preferRelativeResize="0"/>
          <p:nvPr/>
        </p:nvPicPr>
        <p:blipFill rotWithShape="1">
          <a:blip r:embed="rId9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905256" y="4476902"/>
            <a:ext cx="114300" cy="1143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1095451" y="4476902"/>
            <a:ext cx="114300" cy="114300"/>
          </a:xfrm>
          <a:prstGeom prst="ellipse">
            <a:avLst/>
          </a:prstGeom>
          <a:solidFill>
            <a:srgbClr val="EAB30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1285646" y="4476902"/>
            <a:ext cx="114300" cy="1143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1466698" y="4438498"/>
            <a:ext cx="9258300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kpi_semaforo.py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3 — Sistema de Indicadores con Semáforo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761695" y="905256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4 KPIs evaluados sobre 3 períodos estacionales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905256" y="1447495"/>
            <a:ext cx="23280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KPI1: Cobertura de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1057046" y="1923898"/>
            <a:ext cx="2176272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 Mayor es mejor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905256" y="1686154"/>
            <a:ext cx="1466698" cy="181051"/>
          </a:xfrm>
          <a:prstGeom prst="roundRect">
            <a:avLst>
              <a:gd fmla="val 159490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905256" y="1686154"/>
            <a:ext cx="1526134" cy="1810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38100" spcFirstLastPara="1" rIns="381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= Válidos/Total × 100%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8"/>
          <p:cNvPicPr preferRelativeResize="0"/>
          <p:nvPr/>
        </p:nvPicPr>
        <p:blipFill rotWithShape="1">
          <a:blip r:embed="rId10">
            <a:alphaModFix/>
          </a:blip>
          <a:srcRect b="0" l="-133" r="-133" t="0"/>
          <a:stretch/>
        </p:blipFill>
        <p:spPr>
          <a:xfrm>
            <a:off x="905256" y="1928470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 txBox="1"/>
          <p:nvPr/>
        </p:nvSpPr>
        <p:spPr>
          <a:xfrm>
            <a:off x="3619195" y="1447495"/>
            <a:ext cx="23280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KPI2: Estabilidad de Señal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3770986" y="1923898"/>
            <a:ext cx="2176272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 Mayor es mejor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619195" y="1686154"/>
            <a:ext cx="1714500" cy="181051"/>
          </a:xfrm>
          <a:prstGeom prst="roundRect">
            <a:avLst>
              <a:gd fmla="val 159490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3619195" y="1686154"/>
            <a:ext cx="1783080" cy="1810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38100" spcFirstLastPara="1" rIns="381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= Días normal/Total × 100%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10">
            <a:alphaModFix/>
          </a:blip>
          <a:srcRect b="0" l="-133" r="-133" t="0"/>
          <a:stretch/>
        </p:blipFill>
        <p:spPr>
          <a:xfrm>
            <a:off x="3619195" y="1928470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6334049" y="1447495"/>
            <a:ext cx="23280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KPI3: Tasa de Anomalías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6485839" y="1923898"/>
            <a:ext cx="2176272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 Menor es mejor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334049" y="1686154"/>
            <a:ext cx="1657807" cy="181051"/>
          </a:xfrm>
          <a:prstGeom prst="roundRect">
            <a:avLst>
              <a:gd fmla="val 159490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6334049" y="1686154"/>
            <a:ext cx="1723644" cy="1810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38100" spcFirstLastPara="1" rIns="381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= Días error/Total × 100%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8"/>
          <p:cNvPicPr preferRelativeResize="0"/>
          <p:nvPr/>
        </p:nvPicPr>
        <p:blipFill rotWithShape="1">
          <a:blip r:embed="rId11">
            <a:alphaModFix/>
          </a:blip>
          <a:srcRect b="0" l="-133" r="-133" t="0"/>
          <a:stretch/>
        </p:blipFill>
        <p:spPr>
          <a:xfrm>
            <a:off x="6334049" y="1928470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 txBox="1"/>
          <p:nvPr/>
        </p:nvSpPr>
        <p:spPr>
          <a:xfrm>
            <a:off x="9048902" y="1447495"/>
            <a:ext cx="232806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KPI4: Índice Cambio Brusco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200693" y="1923898"/>
            <a:ext cx="2176272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A855F7"/>
                </a:solidFill>
                <a:latin typeface="Roboto"/>
                <a:ea typeface="Roboto"/>
                <a:cs typeface="Roboto"/>
                <a:sym typeface="Roboto"/>
              </a:rPr>
              <a:t> Menor es mejor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9048902" y="1686154"/>
            <a:ext cx="1591056" cy="181051"/>
          </a:xfrm>
          <a:prstGeom prst="roundRect">
            <a:avLst>
              <a:gd fmla="val 159490" name="adj"/>
            </a:avLst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9048902" y="1686154"/>
            <a:ext cx="1655064" cy="1810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38100" spcFirstLastPara="1" rIns="381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= Trans&gt;500/Total × 100%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8"/>
          <p:cNvPicPr preferRelativeResize="0"/>
          <p:nvPr/>
        </p:nvPicPr>
        <p:blipFill rotWithShape="1">
          <a:blip r:embed="rId11">
            <a:alphaModFix/>
          </a:blip>
          <a:srcRect b="0" l="-133" r="-133" t="0"/>
          <a:stretch/>
        </p:blipFill>
        <p:spPr>
          <a:xfrm>
            <a:off x="9048902" y="1928470"/>
            <a:ext cx="85954" cy="114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5" name="Google Shape;275;p8"/>
          <p:cNvGraphicFramePr/>
          <p:nvPr/>
        </p:nvGraphicFramePr>
        <p:xfrm>
          <a:off x="952805" y="24286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{4C5A070C-275F-4D44-8D16-A6096F4801FB}</a:tableStyleId>
              </a:tblPr>
              <a:tblGrid>
                <a:gridCol w="2057025"/>
                <a:gridCol w="1543225"/>
                <a:gridCol w="1543225"/>
                <a:gridCol w="1543225"/>
                <a:gridCol w="1543225"/>
                <a:gridCol w="2057025"/>
              </a:tblGrid>
              <a:tr h="40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Período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KPI1 </a:t>
                      </a:r>
                      <a:r>
                        <a:rPr lang="en-US" sz="90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(Cobertura)</a:t>
                      </a:r>
                      <a:endParaRPr sz="1200" u="none" cap="none" strike="noStrike"/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KPI2 </a:t>
                      </a:r>
                      <a:r>
                        <a:rPr lang="en-US" sz="90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(Estabilidad)</a:t>
                      </a:r>
                      <a:endParaRPr sz="1200" u="none" cap="none" strike="noStrike"/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KPI3 </a:t>
                      </a:r>
                      <a:r>
                        <a:rPr lang="en-US" sz="90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(Anomalías)</a:t>
                      </a:r>
                      <a:endParaRPr sz="1200" u="none" cap="none" strike="noStrike"/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KPI4 </a:t>
                      </a:r>
                      <a:r>
                        <a:rPr lang="en-US" sz="90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(Cambio B.)</a:t>
                      </a:r>
                      <a:endParaRPr sz="1200" u="none" cap="none" strike="noStrike"/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Estado General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Otoño 2016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93.4% 🟢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40.0% 🔴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6.6% 🟡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13.3% 🟡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900"/>
                        <a:buFont typeface="Roboto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🟡 EN RIESGO</a:t>
                      </a:r>
                      <a:endParaRPr sz="1200" u="none" cap="none" strike="noStrike"/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40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Invierno 2017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79.8% 🟡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46.7% 🔴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20.2% 🔴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15.9% 🟡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00"/>
                        <a:buFont typeface="Roboto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F44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🔴 CRÍTICO</a:t>
                      </a:r>
                      <a:endParaRPr sz="1200" u="none" cap="none" strike="noStrike"/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Primavera 2017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96.7% 🟢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100% 🟢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3.3% 🟢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2.5% 🟢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Roboto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🟢 OPERATIVO</a:t>
                      </a:r>
                      <a:endParaRPr sz="1200" u="none" cap="none" strike="noStrike"/>
                    </a:p>
                  </a:txBody>
                  <a:tcPr marT="114300" marB="114300" marR="95100" marL="9510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8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905250" y="4733550"/>
            <a:ext cx="54024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Operación 2: Normalización Min-Max (vectorizada)</a:t>
            </a:r>
            <a:endParaRPr sz="11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arreglo_normalizado = (arreglo_ert - np_min) / (np_max - np_min)</a:t>
            </a:r>
            <a:endParaRPr sz="11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Operación 3: Gradiente temporal</a:t>
            </a:r>
            <a:endParaRPr sz="11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gradiente = </a:t>
            </a:r>
            <a:r>
              <a:rPr lang="en-US" sz="11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np.diff</a:t>
            </a:r>
            <a:r>
              <a:rPr lang="en-US" sz="11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(arreglo_ert)</a:t>
            </a:r>
            <a:endParaRPr sz="11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Detecta cambios &gt; 500 Ω·m/día → ⚡ Cambio brusco</a:t>
            </a:r>
            <a:endParaRPr sz="1150">
              <a:solidFill>
                <a:srgbClr val="64748B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9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9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9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9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761695" y="1333195"/>
            <a:ext cx="5162702" cy="1762049"/>
          </a:xfrm>
          <a:prstGeom prst="roundRect">
            <a:avLst>
              <a:gd fmla="val 4488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761695" y="1333195"/>
            <a:ext cx="5162702" cy="38405"/>
          </a:xfrm>
          <a:prstGeom prst="roundRect">
            <a:avLst>
              <a:gd fmla="val 205919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6286500" y="1333195"/>
            <a:ext cx="5162702" cy="1762049"/>
          </a:xfrm>
          <a:prstGeom prst="roundRect">
            <a:avLst>
              <a:gd fmla="val 4488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286500" y="1333195"/>
            <a:ext cx="5162702" cy="38405"/>
          </a:xfrm>
          <a:prstGeom prst="roundRect">
            <a:avLst>
              <a:gd fmla="val 205919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761695" y="3333902"/>
            <a:ext cx="5162702" cy="1762049"/>
          </a:xfrm>
          <a:prstGeom prst="roundRect">
            <a:avLst>
              <a:gd fmla="val 4488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761695" y="3333902"/>
            <a:ext cx="5162702" cy="38405"/>
          </a:xfrm>
          <a:prstGeom prst="roundRect">
            <a:avLst>
              <a:gd fmla="val 205919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6286500" y="3333902"/>
            <a:ext cx="5162702" cy="1762049"/>
          </a:xfrm>
          <a:prstGeom prst="roundRect">
            <a:avLst>
              <a:gd fmla="val 4488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6286500" y="3333902"/>
            <a:ext cx="5162702" cy="38405"/>
          </a:xfrm>
          <a:prstGeom prst="roundRect">
            <a:avLst>
              <a:gd fmla="val 205919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9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 txBox="1"/>
          <p:nvPr/>
        </p:nvSpPr>
        <p:spPr>
          <a:xfrm>
            <a:off x="761695" y="476402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3 — Hallazgos y Acciones Sugeridas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949" y="1552651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 txBox="1"/>
          <p:nvPr/>
        </p:nvSpPr>
        <p:spPr>
          <a:xfrm>
            <a:off x="1285646" y="1524305"/>
            <a:ext cx="474482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H1 — CRÍTICO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Cobertura en Invierno 2017: 79.78%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52805" y="2048256"/>
            <a:ext cx="5257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18 días sin datos por fallas del sistema solar.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952805" y="2376526"/>
            <a:ext cx="49149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Acción: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Instalar batería de respaldo antes de noviembre.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754" y="1552651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 txBox="1"/>
          <p:nvPr/>
        </p:nvSpPr>
        <p:spPr>
          <a:xfrm>
            <a:off x="6810451" y="1524305"/>
            <a:ext cx="502828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H2 — CRÍTICO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Estabilidad &lt; 50% en Otoño e Invierno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6476695" y="2048256"/>
            <a:ext cx="54489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Predominan valores de suelo congelado &gt; 1000 Ohm·m.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6476695" y="2376526"/>
            <a:ext cx="508680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Acción: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Ajustar umbrales KPI2 estacionalmente en invierno.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949" y="35524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/>
        </p:nvSpPr>
        <p:spPr>
          <a:xfrm>
            <a:off x="1285646" y="3524098"/>
            <a:ext cx="46497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H3 — CRÍTICO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Tasa anomalías 20.22% en Invierno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952805" y="4048049"/>
            <a:ext cx="54489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Supera umbral ROJO de 15%. Coincide con fallas energía.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952805" y="4376318"/>
            <a:ext cx="542970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Acción: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Mantenimiento preventivo del sistema MPT cada octubre.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754" y="35524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9"/>
          <p:cNvSpPr txBox="1"/>
          <p:nvPr/>
        </p:nvSpPr>
        <p:spPr>
          <a:xfrm>
            <a:off x="6810451" y="3524098"/>
            <a:ext cx="4506163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H4 — POSITIVO</a:t>
            </a:r>
            <a:r>
              <a:rPr b="1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Primavera 2017: todos los KPIs en VERDE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6476695" y="4048049"/>
            <a:ext cx="54489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96.72% cobertura, 100% estabilidad, 2.48% cambios bruscos.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6476695" y="4376318"/>
            <a:ext cx="54489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Acción: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Usar período C como línea base de referencia operativa.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761695" y="6476695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10972800" y="6476695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0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10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10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10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0"/>
          <p:cNvSpPr/>
          <p:nvPr/>
        </p:nvSpPr>
        <p:spPr>
          <a:xfrm>
            <a:off x="761695" y="1429207"/>
            <a:ext cx="4591202" cy="3666744"/>
          </a:xfrm>
          <a:prstGeom prst="roundRect">
            <a:avLst>
              <a:gd fmla="val 103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761695" y="1429207"/>
            <a:ext cx="4591202" cy="38405"/>
          </a:xfrm>
          <a:prstGeom prst="roundRect">
            <a:avLst>
              <a:gd fmla="val 98948" name="adj"/>
            </a:avLst>
          </a:prstGeom>
          <a:solidFill>
            <a:srgbClr val="EAB308"/>
          </a:solidFill>
          <a:ln cap="flat" cmpd="sng" w="12700">
            <a:solidFill>
              <a:srgbClr val="EAB30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0"/>
          <p:cNvPicPr preferRelativeResize="0"/>
          <p:nvPr/>
        </p:nvPicPr>
        <p:blipFill rotWithShape="1">
          <a:blip r:embed="rId7">
            <a:alphaModFix/>
          </a:blip>
          <a:srcRect b="-13" l="0" r="0" t="-13"/>
          <a:stretch/>
        </p:blipFill>
        <p:spPr>
          <a:xfrm>
            <a:off x="5619902" y="1429207"/>
            <a:ext cx="5829300" cy="295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2" name="Google Shape;332;p10"/>
          <p:cNvPicPr preferRelativeResize="0"/>
          <p:nvPr/>
        </p:nvPicPr>
        <p:blipFill rotWithShape="1">
          <a:blip r:embed="rId8">
            <a:alphaModFix/>
          </a:blip>
          <a:srcRect b="0" l="-3" r="-3" t="0"/>
          <a:stretch/>
        </p:blipFill>
        <p:spPr>
          <a:xfrm>
            <a:off x="5619902" y="1714500"/>
            <a:ext cx="5829300" cy="334304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0"/>
          <p:cNvSpPr/>
          <p:nvPr/>
        </p:nvSpPr>
        <p:spPr>
          <a:xfrm>
            <a:off x="761695" y="5333695"/>
            <a:ext cx="10687507" cy="875995"/>
          </a:xfrm>
          <a:prstGeom prst="roundRect">
            <a:avLst>
              <a:gd fmla="val 18154" name="adj"/>
            </a:avLst>
          </a:prstGeom>
          <a:solidFill>
            <a:srgbClr val="1E293B">
              <a:alpha val="60000"/>
            </a:srgbClr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0"/>
          <p:cNvPicPr preferRelativeResize="0"/>
          <p:nvPr/>
        </p:nvPicPr>
        <p:blipFill rotWithShape="1">
          <a:blip r:embed="rId9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5" name="Google Shape;335;p10"/>
          <p:cNvPicPr preferRelativeResize="0"/>
          <p:nvPr/>
        </p:nvPicPr>
        <p:blipFill rotWithShape="1">
          <a:blip r:embed="rId10">
            <a:alphaModFix/>
          </a:blip>
          <a:srcRect b="0" l="-2089" r="-2089" t="0"/>
          <a:stretch/>
        </p:blipFill>
        <p:spPr>
          <a:xfrm>
            <a:off x="1143000" y="2048256"/>
            <a:ext cx="3810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/>
          <p:nvPr/>
        </p:nvSpPr>
        <p:spPr>
          <a:xfrm>
            <a:off x="5762549" y="1524305"/>
            <a:ext cx="114300" cy="1143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5952744" y="1524305"/>
            <a:ext cx="114300" cy="114300"/>
          </a:xfrm>
          <a:prstGeom prst="ellipse">
            <a:avLst/>
          </a:prstGeom>
          <a:solidFill>
            <a:srgbClr val="EAB30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6143854" y="1524305"/>
            <a:ext cx="114300" cy="1143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6324905" y="1485900"/>
            <a:ext cx="4401007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simulacion_montecarlo.py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4 — Simulación de Montecarlo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761695" y="905256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¿Cuál es la P(cobertura ≥ 85%) en un invierno de 90 días?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895198" y="1666951"/>
            <a:ext cx="43059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VARIABLES DE INCERTIDUMBRE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6579" y="2352751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 txBox="1"/>
          <p:nvPr/>
        </p:nvSpPr>
        <p:spPr>
          <a:xfrm>
            <a:off x="1333195" y="2286000"/>
            <a:ext cx="39246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Variable 1 — Fallas energía solar: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1333195" y="2829154"/>
            <a:ext cx="38862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Justificación:</a:t>
            </a:r>
            <a:r>
              <a:rPr b="0" i="0" lang="en-US" sz="10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eventos discretos, independientes, tasa histórica constante observada en el Período B del dataset.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333195" y="2514600"/>
            <a:ext cx="3200400" cy="237744"/>
          </a:xfrm>
          <a:prstGeom prst="roundRect">
            <a:avLst>
              <a:gd fmla="val 123077" name="adj"/>
            </a:avLst>
          </a:prstGeom>
          <a:solidFill>
            <a:srgbClr val="000000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1333195" y="2514600"/>
            <a:ext cx="3277210" cy="23865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Días perdidos ~ Poisson(λ=3.2 fallas/mes)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0354" y="36859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 txBox="1"/>
          <p:nvPr/>
        </p:nvSpPr>
        <p:spPr>
          <a:xfrm>
            <a:off x="1333195" y="3619195"/>
            <a:ext cx="39246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Variable 2 — Fallas sistema MPT: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1333195" y="4162349"/>
            <a:ext cx="38862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Justificación:</a:t>
            </a:r>
            <a:r>
              <a:rPr b="0" i="0" lang="en-US" sz="10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fallas menos frecuentes del hardware de adquisición.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333195" y="3847795"/>
            <a:ext cx="3200400" cy="237744"/>
          </a:xfrm>
          <a:prstGeom prst="roundRect">
            <a:avLst>
              <a:gd fmla="val 123077" name="adj"/>
            </a:avLst>
          </a:prstGeom>
          <a:solidFill>
            <a:srgbClr val="000000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 txBox="1"/>
          <p:nvPr/>
        </p:nvSpPr>
        <p:spPr>
          <a:xfrm>
            <a:off x="1333195" y="3847795"/>
            <a:ext cx="3277210" cy="23865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Días perdidos ~ Poisson(λ=1.5 fallas/mes)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13">
            <a:alphaModFix/>
          </a:blip>
          <a:srcRect b="0" l="-1169" r="-1169" t="0"/>
          <a:stretch/>
        </p:blipFill>
        <p:spPr>
          <a:xfrm>
            <a:off x="1143000" y="5686654"/>
            <a:ext cx="190195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1524305" y="5477256"/>
            <a:ext cx="96396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Fira Code"/>
              <a:buNone/>
            </a:pPr>
            <a:r>
              <a:rPr b="0" i="0" lang="en-US" sz="12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Cobertura_sim</a:t>
            </a:r>
            <a:r>
              <a:rPr b="0" i="0" lang="en-US" sz="12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(90 - </a:t>
            </a:r>
            <a:r>
              <a:rPr b="0" i="0" lang="en-US" sz="1200" u="none" cap="none" strike="noStrike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días_perdidos_energía</a:t>
            </a:r>
            <a:r>
              <a:rPr b="0" i="0" lang="en-US" sz="12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- </a:t>
            </a:r>
            <a:r>
              <a:rPr b="0" i="0" lang="en-US" sz="1200" u="none" cap="none" strike="noStrike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días_perdidos_MPT</a:t>
            </a:r>
            <a:r>
              <a:rPr b="0" i="0" lang="en-US" sz="12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 / 90 × 100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1524305" y="5772607"/>
            <a:ext cx="96396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Días máx. permitidos = 90 × (1 - 85/100) = </a:t>
            </a:r>
            <a:r>
              <a:rPr b="1" i="0" lang="en-US" sz="13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13 días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5762550" y="1857825"/>
            <a:ext cx="5401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N_SIMULACIONES = 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10_000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np.random.seed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42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   </a:t>
            </a:r>
            <a:r>
              <a:rPr lang="en-US" sz="10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Reproducibilidad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sim </a:t>
            </a:r>
            <a:r>
              <a:rPr lang="en-US" sz="105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range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(N_SIMULACIONES):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dias_perdidos = 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mes </a:t>
            </a:r>
            <a:r>
              <a:rPr lang="en-US" sz="105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range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):   </a:t>
            </a:r>
            <a:r>
              <a:rPr lang="en-US" sz="10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3 meses de invierno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dias_perdidos += </a:t>
            </a:r>
            <a:r>
              <a:rPr lang="en-US" sz="10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np.random.poisson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(lambda_energia)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dias_perdidos += </a:t>
            </a:r>
            <a:r>
              <a:rPr lang="en-US" sz="10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np.random.poisson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(lambda_mpt)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dias_perdidos = </a:t>
            </a:r>
            <a:r>
              <a:rPr lang="en-US" sz="10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min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(dias_perdidos, 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90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  </a:t>
            </a:r>
            <a:r>
              <a:rPr lang="en-US" sz="10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límite del período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cobertura = (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90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- dias_perdidos) / 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90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* </a:t>
            </a:r>
            <a:r>
              <a:rPr lang="en-US" sz="105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100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coberturas_simuladas.</a:t>
            </a:r>
            <a:r>
              <a:rPr lang="en-US" sz="105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append</a:t>
            </a:r>
            <a:r>
              <a:rPr lang="en-US" sz="105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(cobertura)</a:t>
            </a:r>
            <a:endParaRPr sz="105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1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7" name="Google Shape;367;p11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11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9" name="Google Shape;369;p11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1"/>
          <p:cNvSpPr/>
          <p:nvPr/>
        </p:nvSpPr>
        <p:spPr>
          <a:xfrm>
            <a:off x="761695" y="3619195"/>
            <a:ext cx="3448202" cy="4572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4381805" y="3619195"/>
            <a:ext cx="3448202" cy="4572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8001000" y="3619195"/>
            <a:ext cx="3476549" cy="4572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8001000" y="3619195"/>
            <a:ext cx="38405" cy="457200"/>
          </a:xfrm>
          <a:prstGeom prst="roundRect">
            <a:avLst>
              <a:gd fmla="val 595235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761695" y="4238244"/>
            <a:ext cx="2542946" cy="4572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3476549" y="4238244"/>
            <a:ext cx="2542946" cy="4572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6191402" y="4238244"/>
            <a:ext cx="2542946" cy="4572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8906256" y="4238244"/>
            <a:ext cx="2542946" cy="4572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761695" y="4858207"/>
            <a:ext cx="10705795" cy="752551"/>
          </a:xfrm>
          <a:prstGeom prst="roundRect">
            <a:avLst>
              <a:gd fmla="val 24609" name="adj"/>
            </a:avLst>
          </a:prstGeom>
          <a:solidFill>
            <a:srgbClr val="EF4444">
              <a:alpha val="10196"/>
            </a:srgbClr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761695" y="5762549"/>
            <a:ext cx="4209898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5095951" y="5762549"/>
            <a:ext cx="3209544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8429854" y="5762549"/>
            <a:ext cx="3019349" cy="543154"/>
          </a:xfrm>
          <a:prstGeom prst="roundRect">
            <a:avLst>
              <a:gd fmla="val 47256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11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1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4 — Resultados: 10,000 Simulaciones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952805" y="3743554"/>
            <a:ext cx="31629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📊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Simulaciones: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4572000" y="3743554"/>
            <a:ext cx="31629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🎯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Meta: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≥ 85%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8191195" y="3743554"/>
            <a:ext cx="31629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✅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P(éxito):</a:t>
            </a:r>
            <a:r>
              <a:rPr b="1" i="0" lang="en-US" sz="12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44.92%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952805" y="4362602"/>
            <a:ext cx="22293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📈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Media: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84.3%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3666744" y="4362602"/>
            <a:ext cx="22293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📉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Std: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6381598" y="4362602"/>
            <a:ext cx="22293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P5: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77.8%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9096451" y="4362602"/>
            <a:ext cx="222930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P95: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91.1%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902" y="50959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 txBox="1"/>
          <p:nvPr/>
        </p:nvSpPr>
        <p:spPr>
          <a:xfrm>
            <a:off x="1429207" y="5000854"/>
            <a:ext cx="982980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NIVEL DE RIESGO: ALTO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1429207" y="5219395"/>
            <a:ext cx="987552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Solo el 44.92% de los escenarios simulados cumplen la meta. El promedio de 14.1 días perdidos supera el límite de 13 días.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4" name="Google Shape;394;p11"/>
          <p:cNvPicPr preferRelativeResize="0"/>
          <p:nvPr/>
        </p:nvPicPr>
        <p:blipFill rotWithShape="1">
          <a:blip r:embed="rId9">
            <a:alphaModFix/>
          </a:blip>
          <a:srcRect b="0" l="-1773" r="-1773" t="0"/>
          <a:stretch/>
        </p:blipFill>
        <p:spPr>
          <a:xfrm>
            <a:off x="1000354" y="5934456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1"/>
          <p:cNvSpPr txBox="1"/>
          <p:nvPr/>
        </p:nvSpPr>
        <p:spPr>
          <a:xfrm>
            <a:off x="1285646" y="5857646"/>
            <a:ext cx="36393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Reducir λ_energía 3.2→1.5 con batería backup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1285646" y="6037783"/>
            <a:ext cx="36393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→ P(éxito) +33%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7" name="Google Shape;39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15407" y="59344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1"/>
          <p:cNvSpPr txBox="1"/>
          <p:nvPr/>
        </p:nvSpPr>
        <p:spPr>
          <a:xfrm>
            <a:off x="5619902" y="5857646"/>
            <a:ext cx="2600554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Mantenimiento MPT preventivo cada octubre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48395" y="59344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1"/>
          <p:cNvSpPr txBox="1"/>
          <p:nvPr/>
        </p:nvSpPr>
        <p:spPr>
          <a:xfrm>
            <a:off x="8953805" y="5857646"/>
            <a:ext cx="2410358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Alerta semanal si &gt;4 días perdidos en primeras 4 semanas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47701" y="992000"/>
            <a:ext cx="5788324" cy="246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12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2" name="Google Shape;412;p12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3" name="Google Shape;413;p12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4" name="Google Shape;414;p12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2"/>
          <p:cNvSpPr/>
          <p:nvPr/>
        </p:nvSpPr>
        <p:spPr>
          <a:xfrm>
            <a:off x="761695" y="1000354"/>
            <a:ext cx="10687507" cy="923544"/>
          </a:xfrm>
          <a:prstGeom prst="roundRect">
            <a:avLst>
              <a:gd fmla="val 16332" name="adj"/>
            </a:avLst>
          </a:prstGeom>
          <a:solidFill>
            <a:srgbClr val="0F766E"/>
          </a:solidFill>
          <a:ln cap="flat" cmpd="sng" w="12700">
            <a:solidFill>
              <a:srgbClr val="115E5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761695" y="2095805"/>
            <a:ext cx="5162702" cy="2428646"/>
          </a:xfrm>
          <a:prstGeom prst="roundRect">
            <a:avLst>
              <a:gd fmla="val 236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761695" y="2095805"/>
            <a:ext cx="5162702" cy="38405"/>
          </a:xfrm>
          <a:prstGeom prst="roundRect">
            <a:avLst>
              <a:gd fmla="val 149392" name="adj"/>
            </a:avLst>
          </a:prstGeom>
          <a:solidFill>
            <a:srgbClr val="EAB308"/>
          </a:solidFill>
          <a:ln cap="flat" cmpd="sng" w="12700">
            <a:solidFill>
              <a:srgbClr val="EAB30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6286500" y="2095805"/>
            <a:ext cx="5162702" cy="2428646"/>
          </a:xfrm>
          <a:prstGeom prst="roundRect">
            <a:avLst>
              <a:gd fmla="val 236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6286500" y="2095805"/>
            <a:ext cx="5162702" cy="38405"/>
          </a:xfrm>
          <a:prstGeom prst="roundRect">
            <a:avLst>
              <a:gd fmla="val 149392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761695" y="4667098"/>
            <a:ext cx="10687507" cy="1543507"/>
          </a:xfrm>
          <a:prstGeom prst="roundRect">
            <a:avLst>
              <a:gd fmla="val 5851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12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2" name="Google Shape;422;p12"/>
          <p:cNvPicPr preferRelativeResize="0"/>
          <p:nvPr/>
        </p:nvPicPr>
        <p:blipFill rotWithShape="1">
          <a:blip r:embed="rId8">
            <a:alphaModFix/>
          </a:blip>
          <a:srcRect b="-402" l="0" r="0" t="-402"/>
          <a:stretch/>
        </p:blipFill>
        <p:spPr>
          <a:xfrm>
            <a:off x="1828800" y="5477256"/>
            <a:ext cx="853409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2"/>
          <p:cNvSpPr/>
          <p:nvPr/>
        </p:nvSpPr>
        <p:spPr>
          <a:xfrm>
            <a:off x="1752905" y="5419649"/>
            <a:ext cx="209398" cy="209398"/>
          </a:xfrm>
          <a:prstGeom prst="ellipse">
            <a:avLst/>
          </a:prstGeom>
          <a:solidFill>
            <a:srgbClr val="3B82F6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3886200" y="5419649"/>
            <a:ext cx="209398" cy="209398"/>
          </a:xfrm>
          <a:prstGeom prst="ellipse">
            <a:avLst/>
          </a:prstGeom>
          <a:solidFill>
            <a:srgbClr val="3B82F6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6019495" y="5419649"/>
            <a:ext cx="209398" cy="209398"/>
          </a:xfrm>
          <a:prstGeom prst="ellipse">
            <a:avLst/>
          </a:prstGeom>
          <a:solidFill>
            <a:srgbClr val="3B82F6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8153705" y="5419649"/>
            <a:ext cx="209398" cy="209398"/>
          </a:xfrm>
          <a:prstGeom prst="ellipse">
            <a:avLst/>
          </a:prstGeom>
          <a:solidFill>
            <a:srgbClr val="3B82F6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10287000" y="5419649"/>
            <a:ext cx="209398" cy="209398"/>
          </a:xfrm>
          <a:prstGeom prst="ellipse">
            <a:avLst/>
          </a:prstGeom>
          <a:solidFill>
            <a:srgbClr val="3B82F6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5 — Avance del Proyecto Final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914400" y="1095451"/>
            <a:ext cx="103638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CCFBF1"/>
                </a:solidFill>
                <a:latin typeface="Montserrat"/>
                <a:ea typeface="Montserrat"/>
                <a:cs typeface="Montserrat"/>
                <a:sym typeface="Montserrat"/>
              </a:rPr>
              <a:t>"Diseño y desarrollo de un sistema portátil de bajo costo basado en mediciones de resistividad eléctrica para la estimación espacial y en tiempo real del potencial mátrico del suelo mediante modelos de aprendizaje automático"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0" name="Google Shape;43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949" y="22951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2"/>
          <p:cNvSpPr txBox="1"/>
          <p:nvPr/>
        </p:nvSpPr>
        <p:spPr>
          <a:xfrm>
            <a:off x="1285646" y="2286000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BRECHA TECNOLÓGICA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1143000" y="2762402"/>
            <a:ext cx="4686300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Tensiómetros comerciales: </a:t>
            </a:r>
            <a:r>
              <a:rPr b="1" i="0" lang="en-US" sz="12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USD 500–2,000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/nodo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1143000" y="3052267"/>
            <a:ext cx="4686300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Equipos ERT comerciales: </a:t>
            </a:r>
            <a:r>
              <a:rPr b="1" i="0" lang="en-US" sz="12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USD 20,000–80,000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1143000" y="3341218"/>
            <a:ext cx="4686300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Sistema propuesto: </a:t>
            </a:r>
            <a:r>
              <a:rPr b="1" i="0" lang="en-US" sz="12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&lt; USD 150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/nodo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952805" y="3802990"/>
            <a:ext cx="4762195" cy="485546"/>
          </a:xfrm>
          <a:prstGeom prst="roundRect">
            <a:avLst>
              <a:gd fmla="val 29541" name="adj"/>
            </a:avLst>
          </a:prstGeom>
          <a:solidFill>
            <a:srgbClr val="22C55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952805" y="3802990"/>
            <a:ext cx="38405" cy="485546"/>
          </a:xfrm>
          <a:prstGeom prst="roundRect">
            <a:avLst>
              <a:gd fmla="val 373481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 txBox="1"/>
          <p:nvPr/>
        </p:nvSpPr>
        <p:spPr>
          <a:xfrm>
            <a:off x="1133856" y="3917290"/>
            <a:ext cx="451530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Reducción de costo esperada: </a:t>
            </a:r>
            <a:r>
              <a:rPr b="1" i="0" lang="en-US" sz="1600" u="none" cap="none" strike="noStrike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&gt; 90%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754" y="22951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2"/>
          <p:cNvSpPr txBox="1"/>
          <p:nvPr/>
        </p:nvSpPr>
        <p:spPr>
          <a:xfrm>
            <a:off x="6810451" y="2286000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6476695" y="2714854"/>
            <a:ext cx="48774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OE1: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Caracterizar relación ρ → θ con dataset ESS-DIVE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6476695" y="3023921"/>
            <a:ext cx="48774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OE2: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Comparar ML: Random Forest, XGBoost, Red MLP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6476695" y="3333902"/>
            <a:ext cx="48774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OE3: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Diseñar prototipo ESP32 + 4 electrodos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6476695" y="3642970"/>
            <a:ext cx="48774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OE4: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Validar con tensiómetros de referencia en campo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 txBox="1"/>
          <p:nvPr/>
        </p:nvSpPr>
        <p:spPr>
          <a:xfrm>
            <a:off x="6476695" y="3952951"/>
            <a:ext cx="48774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OE5:</a:t>
            </a:r>
            <a:r>
              <a:rPr b="0" i="0" lang="en-US" sz="11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Interfaz tiempo real con alertas semáforo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952805" y="4809744"/>
            <a:ext cx="29718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Metodología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1123798" y="5162702"/>
            <a:ext cx="14100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Sem 1–3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1123798" y="5667451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 txBox="1"/>
          <p:nvPr/>
        </p:nvSpPr>
        <p:spPr>
          <a:xfrm>
            <a:off x="1123798" y="5867705"/>
            <a:ext cx="14100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3258007" y="5162702"/>
            <a:ext cx="14100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Sem 4–5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3258007" y="5667451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Análisis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3258007" y="5867705"/>
            <a:ext cx="14100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EDA+Feat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5391302" y="5162702"/>
            <a:ext cx="14100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Sem 6–8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5391302" y="5667451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Modelado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5391302" y="5867705"/>
            <a:ext cx="14100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RF/XGB/MLP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7524598" y="5162702"/>
            <a:ext cx="14100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Sem 9–11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7524598" y="5667451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7524598" y="5867705"/>
            <a:ext cx="14100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ESP32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 txBox="1"/>
          <p:nvPr/>
        </p:nvSpPr>
        <p:spPr>
          <a:xfrm>
            <a:off x="9658807" y="5162702"/>
            <a:ext cx="14100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Sem 12–14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9658807" y="5667451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9658807" y="5867705"/>
            <a:ext cx="14100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Campo+Pub.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13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1" name="Google Shape;471;p13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2" name="Google Shape;472;p13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3" name="Google Shape;473;p13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4" name="Google Shape;474;p13"/>
          <p:cNvPicPr preferRelativeResize="0"/>
          <p:nvPr/>
        </p:nvPicPr>
        <p:blipFill rotWithShape="1">
          <a:blip r:embed="rId7">
            <a:alphaModFix/>
          </a:blip>
          <a:srcRect b="-3" l="0" r="0" t="-3"/>
          <a:stretch/>
        </p:blipFill>
        <p:spPr>
          <a:xfrm>
            <a:off x="761695" y="1429207"/>
            <a:ext cx="10687507" cy="440100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3"/>
          <p:cNvSpPr/>
          <p:nvPr/>
        </p:nvSpPr>
        <p:spPr>
          <a:xfrm>
            <a:off x="761695" y="5952744"/>
            <a:ext cx="10687507" cy="400507"/>
          </a:xfrm>
          <a:prstGeom prst="roundRect">
            <a:avLst>
              <a:gd fmla="val 65232" name="adj"/>
            </a:avLst>
          </a:prstGeom>
          <a:solidFill>
            <a:srgbClr val="22C55E">
              <a:alpha val="5098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3"/>
          <p:cNvPicPr preferRelativeResize="0"/>
          <p:nvPr/>
        </p:nvPicPr>
        <p:blipFill rotWithShape="1">
          <a:blip r:embed="rId8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7" name="Google Shape;477;p13"/>
          <p:cNvPicPr preferRelativeResize="0"/>
          <p:nvPr/>
        </p:nvPicPr>
        <p:blipFill rotWithShape="1">
          <a:blip r:embed="rId9">
            <a:alphaModFix/>
          </a:blip>
          <a:srcRect b="-15" l="0" r="0" t="-15"/>
          <a:stretch/>
        </p:blipFill>
        <p:spPr>
          <a:xfrm>
            <a:off x="761695" y="1429207"/>
            <a:ext cx="10668305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3"/>
          <p:cNvSpPr txBox="1"/>
          <p:nvPr/>
        </p:nvSpPr>
        <p:spPr>
          <a:xfrm>
            <a:off x="761695" y="381305"/>
            <a:ext cx="1096274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5 — Revisión de Literatura (8 referencias)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761695" y="905256"/>
            <a:ext cx="1078260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Matriz de revisión: problema → técnica → relación con el proyecto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0" name="Google Shape;480;p13"/>
          <p:cNvGraphicFramePr/>
          <p:nvPr/>
        </p:nvGraphicFramePr>
        <p:xfrm>
          <a:off x="952805" y="1429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{4C5A070C-275F-4D44-8D16-A6096F4801FB}</a:tableStyleId>
              </a:tblPr>
              <a:tblGrid>
                <a:gridCol w="514750"/>
                <a:gridCol w="1543375"/>
                <a:gridCol w="719575"/>
                <a:gridCol w="2880100"/>
                <a:gridCol w="2057225"/>
                <a:gridCol w="2571975"/>
              </a:tblGrid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Autores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Problema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Técnica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BD5E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Relación con proyecto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R1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Meng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2024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ρ→θ con ML + ERT alta resolución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XGBoost, RF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Referencia central </a:t>
                      </a:r>
                      <a:r>
                        <a:rPr b="1" lang="en-US" sz="975" u="none" cap="none" strike="noStrike">
                          <a:solidFill>
                            <a:srgbClr val="3B82F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OE2</a:t>
                      </a:r>
                      <a:endParaRPr sz="1200" u="none" cap="none" strike="noStrike"/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R2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Zeng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2025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 teórico ρ→θ loess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ERT + Archie mod.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Conversión ρ→ψ </a:t>
                      </a:r>
                      <a:r>
                        <a:rPr lang="en-US" sz="975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1</a:t>
                      </a:r>
                      <a:endParaRPr sz="1200" u="none" cap="none" strike="noStrike"/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R3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Dafflon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2025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 ERT East River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MPT 128 electrodos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 principal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R4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Ciampi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2024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Clustering ERT heterogeneidad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ERT + clustering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Ingeniería características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R5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Amabile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2023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ERT monitoreo hídrico diques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ERT time-lapse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Protocolo validación </a:t>
                      </a:r>
                      <a:r>
                        <a:rPr b="1" lang="en-US" sz="975" u="none" cap="none" strike="noStrike">
                          <a:solidFill>
                            <a:srgbClr val="3B82F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OE4</a:t>
                      </a:r>
                      <a:endParaRPr sz="1200" u="none" cap="none" strike="noStrike"/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R6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Tso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2023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ERT+FDEM con Random Forest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RF + ERT + FDEM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Justifica RF en </a:t>
                      </a:r>
                      <a:r>
                        <a:rPr b="1" lang="en-US" sz="975" u="none" cap="none" strike="noStrike">
                          <a:solidFill>
                            <a:srgbClr val="3B82F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OE2</a:t>
                      </a:r>
                      <a:endParaRPr sz="1200" u="none" cap="none" strike="noStrike"/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R7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Blanchy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2023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Precisión ERT-VWC multiescala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ERT + análisis escala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Incertidumbre </a:t>
                      </a:r>
                      <a:r>
                        <a:rPr lang="en-US" sz="975" u="none" cap="none" strike="noStrike">
                          <a:solidFill>
                            <a:srgbClr val="22C55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5</a:t>
                      </a:r>
                      <a:endParaRPr sz="1200" u="none" cap="none" strike="noStrike"/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050"/>
                        <a:buFont typeface="Fira Code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R8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F8FAF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Navarro-Hellín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2024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IoT bajo costo humedad suelo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B308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AB30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ESP32 + LoRa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Arquitectura hardware </a:t>
                      </a:r>
                      <a:r>
                        <a:rPr b="1" lang="en-US" sz="975" u="none" cap="none" strike="noStrike">
                          <a:solidFill>
                            <a:srgbClr val="3B82F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OE3</a:t>
                      </a:r>
                      <a:endParaRPr sz="1200" u="none" cap="none" strike="noStrike"/>
                    </a:p>
                  </a:txBody>
                  <a:tcPr marT="133500" marB="133500" marR="95100" marL="951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481" name="Google Shape;48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3544" y="60771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3"/>
          <p:cNvSpPr txBox="1"/>
          <p:nvPr/>
        </p:nvSpPr>
        <p:spPr>
          <a:xfrm>
            <a:off x="1190549" y="6048756"/>
            <a:ext cx="102111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Todas las referencias publicadas 2023–2025 con DOI verificado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2" name="Google Shape;492;p14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3" name="Google Shape;493;p14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14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5" name="Google Shape;495;p14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4"/>
          <p:cNvSpPr/>
          <p:nvPr/>
        </p:nvSpPr>
        <p:spPr>
          <a:xfrm>
            <a:off x="761695" y="5619902"/>
            <a:ext cx="10687507" cy="733349"/>
          </a:xfrm>
          <a:prstGeom prst="roundRect">
            <a:avLst>
              <a:gd fmla="val 25909" name="adj"/>
            </a:avLst>
          </a:prstGeom>
          <a:solidFill>
            <a:srgbClr val="22C55E">
              <a:alpha val="5098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14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4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6 — Prototipo Funcional en Lovable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 txBox="1"/>
          <p:nvPr/>
        </p:nvSpPr>
        <p:spPr>
          <a:xfrm>
            <a:off x="761695" y="905256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ERT Monitor Dashboard — React + TypeScript + Recharts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 txBox="1"/>
          <p:nvPr/>
        </p:nvSpPr>
        <p:spPr>
          <a:xfrm>
            <a:off x="761695" y="1429207"/>
            <a:ext cx="5220310" cy="734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Dashboard web interactivo que traduce los resultados computacionales del taller en una interfaz operativa para operadores de campo no expertos en geofísica.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761695" y="2238451"/>
            <a:ext cx="52578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Stack Tecnológico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761695" y="2523744"/>
            <a:ext cx="666598" cy="295351"/>
          </a:xfrm>
          <a:prstGeom prst="roundRect">
            <a:avLst>
              <a:gd fmla="val 309598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733349" y="2523744"/>
            <a:ext cx="724205" cy="2953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1514246" y="2523744"/>
            <a:ext cx="1037844" cy="295351"/>
          </a:xfrm>
          <a:prstGeom prst="roundRect">
            <a:avLst>
              <a:gd fmla="val 309598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1485900" y="2523744"/>
            <a:ext cx="1095451" cy="2953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TypeScript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2638958" y="2523744"/>
            <a:ext cx="1181405" cy="295351"/>
          </a:xfrm>
          <a:prstGeom prst="roundRect">
            <a:avLst>
              <a:gd fmla="val 309598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2609698" y="2523744"/>
            <a:ext cx="1239012" cy="2953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Tailwind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3911803" y="2523744"/>
            <a:ext cx="886054" cy="295351"/>
          </a:xfrm>
          <a:prstGeom prst="roundRect">
            <a:avLst>
              <a:gd fmla="val 309598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3882542" y="2523744"/>
            <a:ext cx="943661" cy="2953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Recharts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4886554" y="2523744"/>
            <a:ext cx="961949" cy="295351"/>
          </a:xfrm>
          <a:prstGeom prst="roundRect">
            <a:avLst>
              <a:gd fmla="val 309598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4858207" y="2523744"/>
            <a:ext cx="1019556" cy="2953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shadcn/ui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761695" y="2915107"/>
            <a:ext cx="1104595" cy="295351"/>
          </a:xfrm>
          <a:prstGeom prst="roundRect">
            <a:avLst>
              <a:gd fmla="val 309598" name="adj"/>
            </a:avLst>
          </a:prstGeom>
          <a:solidFill>
            <a:srgbClr val="A855F7">
              <a:alpha val="10196"/>
            </a:srgbClr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733349" y="2915107"/>
            <a:ext cx="1162202" cy="295351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00"/>
              <a:buFont typeface="Fira Code"/>
              <a:buNone/>
            </a:pPr>
            <a:r>
              <a:rPr b="1" i="0" lang="en-US" sz="9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Lovable.dev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761695" y="3381451"/>
            <a:ext cx="52578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Módulos Principales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5" name="Google Shape;51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0898" y="37810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4"/>
          <p:cNvSpPr txBox="1"/>
          <p:nvPr/>
        </p:nvSpPr>
        <p:spPr>
          <a:xfrm>
            <a:off x="1143000" y="3743554"/>
            <a:ext cx="505206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Dashboard: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KPIs semáforo + serie temporal resistividad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7" name="Google Shape;51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0898" y="420989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4"/>
          <p:cNvSpPr txBox="1"/>
          <p:nvPr/>
        </p:nvSpPr>
        <p:spPr>
          <a:xfrm>
            <a:off x="1143000" y="4172407"/>
            <a:ext cx="48774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Tabla de Datos: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30 registros filtrables y ordenables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9" name="Google Shape;519;p14"/>
          <p:cNvPicPr preferRelativeResize="0"/>
          <p:nvPr/>
        </p:nvPicPr>
        <p:blipFill rotWithShape="1">
          <a:blip r:embed="rId10">
            <a:alphaModFix/>
          </a:blip>
          <a:srcRect b="0" l="-1648" r="-1648" t="0"/>
          <a:stretch/>
        </p:blipFill>
        <p:spPr>
          <a:xfrm>
            <a:off x="790956" y="4638751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4"/>
          <p:cNvSpPr txBox="1"/>
          <p:nvPr/>
        </p:nvSpPr>
        <p:spPr>
          <a:xfrm>
            <a:off x="1143000" y="4600346"/>
            <a:ext cx="523585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Alertas y KPIs: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comparativa 3 períodos + alertas activas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1" name="Google Shape;52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7123" y="5067605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4"/>
          <p:cNvSpPr txBox="1"/>
          <p:nvPr/>
        </p:nvSpPr>
        <p:spPr>
          <a:xfrm>
            <a:off x="1143000" y="5029200"/>
            <a:ext cx="48774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Monte Carlo: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histograma 10,000 sim + recomendaciones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3" name="Google Shape;52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76249" y="58869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4"/>
          <p:cNvSpPr txBox="1"/>
          <p:nvPr/>
        </p:nvSpPr>
        <p:spPr>
          <a:xfrm>
            <a:off x="1524305" y="5762549"/>
            <a:ext cx="98298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Propuesta de Valor del Prototipo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1524305" y="5991149"/>
            <a:ext cx="98298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Reduce interpretación de datos ERT: de </a:t>
            </a:r>
            <a:r>
              <a:rPr b="1" i="0" lang="en-US" sz="11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horas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1" i="0" lang="en-US" sz="11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segundos</a:t>
            </a:r>
            <a:r>
              <a:rPr b="0" i="0" lang="en-US" sz="11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b="0" i="0" lang="en-US" sz="11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Base funcional para evolución hacia despliegue en AWS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8" name="Google Shape;528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66950" y="868813"/>
            <a:ext cx="5088974" cy="432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5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7" name="Google Shape;537;p15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15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9" name="Google Shape;539;p15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15"/>
          <p:cNvSpPr/>
          <p:nvPr/>
        </p:nvSpPr>
        <p:spPr>
          <a:xfrm>
            <a:off x="761695" y="5524805"/>
            <a:ext cx="10715854" cy="733349"/>
          </a:xfrm>
          <a:prstGeom prst="roundRect">
            <a:avLst>
              <a:gd fmla="val 25909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761695" y="5524805"/>
            <a:ext cx="38405" cy="733349"/>
          </a:xfrm>
          <a:prstGeom prst="roundRect">
            <a:avLst>
              <a:gd fmla="val 494741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2" name="Google Shape;542;p15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5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6 — Capturas del Prototipo ERT Monitor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8">
            <a:alphaModFix/>
          </a:blip>
          <a:srcRect b="0" l="-80" r="-80" t="0"/>
          <a:stretch/>
        </p:blipFill>
        <p:spPr>
          <a:xfrm>
            <a:off x="1047902" y="5762549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 txBox="1"/>
          <p:nvPr/>
        </p:nvSpPr>
        <p:spPr>
          <a:xfrm>
            <a:off x="1524305" y="5667451"/>
            <a:ext cx="96396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Acceso público al prototipo: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1524305" y="5886907"/>
            <a:ext cx="96396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Fira Code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https://lovable.dev/projects/23e1851e-5ac6-4613-95ce-12411e316184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9975" y="1134750"/>
            <a:ext cx="3826801" cy="373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77550" y="1137900"/>
            <a:ext cx="3826799" cy="3686997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1" name="Google Shape;551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88841" y="1137900"/>
            <a:ext cx="3420683" cy="3687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9" name="Google Shape;559;p16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0" name="Google Shape;560;p16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1" name="Google Shape;561;p16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2" name="Google Shape;562;p16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6"/>
          <p:cNvSpPr/>
          <p:nvPr/>
        </p:nvSpPr>
        <p:spPr>
          <a:xfrm>
            <a:off x="4762195" y="1238098"/>
            <a:ext cx="2686507" cy="400507"/>
          </a:xfrm>
          <a:prstGeom prst="roundRect">
            <a:avLst>
              <a:gd fmla="val 65232" name="adj"/>
            </a:avLst>
          </a:prstGeom>
          <a:solidFill>
            <a:srgbClr val="1E293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3238805" y="1904695"/>
            <a:ext cx="5762549" cy="495605"/>
          </a:xfrm>
          <a:prstGeom prst="roundRect">
            <a:avLst>
              <a:gd fmla="val 42577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3238805" y="1904695"/>
            <a:ext cx="38405" cy="495605"/>
          </a:xfrm>
          <a:prstGeom prst="roundRect">
            <a:avLst>
              <a:gd fmla="val 549448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6"/>
          <p:cNvSpPr/>
          <p:nvPr/>
        </p:nvSpPr>
        <p:spPr>
          <a:xfrm>
            <a:off x="3238805" y="2667305"/>
            <a:ext cx="5762549" cy="495605"/>
          </a:xfrm>
          <a:prstGeom prst="roundRect">
            <a:avLst>
              <a:gd fmla="val 42577" name="adj"/>
            </a:avLst>
          </a:prstGeom>
          <a:solidFill>
            <a:srgbClr val="A855F7">
              <a:alpha val="10196"/>
            </a:srgbClr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3238805" y="2667305"/>
            <a:ext cx="38405" cy="495605"/>
          </a:xfrm>
          <a:prstGeom prst="roundRect">
            <a:avLst>
              <a:gd fmla="val 549448" name="adj"/>
            </a:avLst>
          </a:prstGeom>
          <a:solidFill>
            <a:srgbClr val="A855F7"/>
          </a:solidFill>
          <a:ln cap="flat" cmpd="sng" w="12700">
            <a:solidFill>
              <a:srgbClr val="A85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3238805" y="3429000"/>
            <a:ext cx="5762549" cy="875995"/>
          </a:xfrm>
          <a:prstGeom prst="roundRect">
            <a:avLst>
              <a:gd fmla="val 13615" name="adj"/>
            </a:avLst>
          </a:prstGeom>
          <a:solidFill>
            <a:srgbClr val="F97316">
              <a:alpha val="1019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3238805" y="3429000"/>
            <a:ext cx="38405" cy="875995"/>
          </a:xfrm>
          <a:prstGeom prst="roundRect">
            <a:avLst>
              <a:gd fmla="val 310557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3238805" y="4572000"/>
            <a:ext cx="2686507" cy="666598"/>
          </a:xfrm>
          <a:prstGeom prst="roundRect">
            <a:avLst>
              <a:gd fmla="val 23516" name="adj"/>
            </a:avLst>
          </a:prstGeom>
          <a:solidFill>
            <a:srgbClr val="22C55E">
              <a:alpha val="1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3238805" y="4572000"/>
            <a:ext cx="2686507" cy="38405"/>
          </a:xfrm>
          <a:prstGeom prst="roundRect">
            <a:avLst>
              <a:gd fmla="val 408161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6286500" y="4572000"/>
            <a:ext cx="2686507" cy="666598"/>
          </a:xfrm>
          <a:prstGeom prst="roundRect">
            <a:avLst>
              <a:gd fmla="val 23516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6286500" y="4572000"/>
            <a:ext cx="2686507" cy="38405"/>
          </a:xfrm>
          <a:prstGeom prst="roundRect">
            <a:avLst>
              <a:gd fmla="val 408161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3238805" y="5429707"/>
            <a:ext cx="5734202" cy="448056"/>
          </a:xfrm>
          <a:prstGeom prst="roundRect">
            <a:avLst>
              <a:gd fmla="val 52106" name="adj"/>
            </a:avLst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5" name="Google Shape;575;p16"/>
          <p:cNvPicPr preferRelativeResize="0"/>
          <p:nvPr/>
        </p:nvPicPr>
        <p:blipFill rotWithShape="1">
          <a:blip r:embed="rId7">
            <a:alphaModFix/>
          </a:blip>
          <a:srcRect b="-3" l="0" r="0" t="-3"/>
          <a:stretch/>
        </p:blipFill>
        <p:spPr>
          <a:xfrm>
            <a:off x="9334195" y="2667305"/>
            <a:ext cx="2286000" cy="1324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6" name="Google Shape;576;p16"/>
          <p:cNvPicPr preferRelativeResize="0"/>
          <p:nvPr/>
        </p:nvPicPr>
        <p:blipFill rotWithShape="1">
          <a:blip r:embed="rId8">
            <a:alphaModFix/>
          </a:blip>
          <a:srcRect b="0" l="-2094" r="-2094" t="0"/>
          <a:stretch/>
        </p:blipFill>
        <p:spPr>
          <a:xfrm>
            <a:off x="9477756" y="3429000"/>
            <a:ext cx="2000707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7" name="Google Shape;577;p16"/>
          <p:cNvPicPr preferRelativeResize="0"/>
          <p:nvPr/>
        </p:nvPicPr>
        <p:blipFill rotWithShape="1">
          <a:blip r:embed="rId9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16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7 — Despliegue en Amazon Web Services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 txBox="1"/>
          <p:nvPr/>
        </p:nvSpPr>
        <p:spPr>
          <a:xfrm>
            <a:off x="761695" y="905256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Arquitectura serverless de 4 capas — Costo: USD 0/mes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0" name="Google Shape;580;p16"/>
          <p:cNvPicPr preferRelativeResize="0"/>
          <p:nvPr/>
        </p:nvPicPr>
        <p:blipFill rotWithShape="1">
          <a:blip r:embed="rId10">
            <a:alphaModFix/>
          </a:blip>
          <a:srcRect b="0" l="-1064" r="-1064" t="0"/>
          <a:stretch/>
        </p:blipFill>
        <p:spPr>
          <a:xfrm>
            <a:off x="5033772" y="1343254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6"/>
          <p:cNvSpPr txBox="1"/>
          <p:nvPr/>
        </p:nvSpPr>
        <p:spPr>
          <a:xfrm>
            <a:off x="5333695" y="1333195"/>
            <a:ext cx="19815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Usuario / Navegador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2" name="Google Shape;58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24982" y="1686154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16"/>
          <p:cNvSpPr txBox="1"/>
          <p:nvPr/>
        </p:nvSpPr>
        <p:spPr>
          <a:xfrm>
            <a:off x="6286500" y="1686154"/>
            <a:ext cx="102870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HTTPS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4" name="Google Shape;58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76879" y="2038198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6"/>
          <p:cNvSpPr txBox="1"/>
          <p:nvPr/>
        </p:nvSpPr>
        <p:spPr>
          <a:xfrm>
            <a:off x="3715207" y="2048256"/>
            <a:ext cx="516270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S3 Static + CloudFront CDN </a:t>
            </a: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← Dashboard React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6" name="Google Shape;58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24982" y="2447849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6"/>
          <p:cNvSpPr txBox="1"/>
          <p:nvPr/>
        </p:nvSpPr>
        <p:spPr>
          <a:xfrm>
            <a:off x="6286500" y="244784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API calls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8" name="Google Shape;58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76879" y="2800807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6"/>
          <p:cNvSpPr txBox="1"/>
          <p:nvPr/>
        </p:nvSpPr>
        <p:spPr>
          <a:xfrm>
            <a:off x="3715207" y="2743200"/>
            <a:ext cx="516270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Amazon API Gateway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 txBox="1"/>
          <p:nvPr/>
        </p:nvSpPr>
        <p:spPr>
          <a:xfrm>
            <a:off x="3715207" y="2943454"/>
            <a:ext cx="516270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← Endpoints: /validar /kpis /montecarlo /prediccion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1" name="Google Shape;59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24982" y="3209544"/>
            <a:ext cx="142646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2" name="Google Shape;592;p16"/>
          <p:cNvPicPr preferRelativeResize="0"/>
          <p:nvPr/>
        </p:nvPicPr>
        <p:blipFill rotWithShape="1">
          <a:blip r:embed="rId14">
            <a:alphaModFix/>
          </a:blip>
          <a:srcRect b="0" l="-1648" r="-1648" t="0"/>
          <a:stretch/>
        </p:blipFill>
        <p:spPr>
          <a:xfrm>
            <a:off x="3409798" y="35625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6"/>
          <p:cNvSpPr txBox="1"/>
          <p:nvPr/>
        </p:nvSpPr>
        <p:spPr>
          <a:xfrm>
            <a:off x="3715207" y="3562502"/>
            <a:ext cx="516270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AWS Lambda × 4 funciones 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 txBox="1"/>
          <p:nvPr/>
        </p:nvSpPr>
        <p:spPr>
          <a:xfrm>
            <a:off x="3715207" y="3810305"/>
            <a:ext cx="257586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FB923C"/>
                </a:solidFill>
                <a:latin typeface="Fira Code"/>
                <a:ea typeface="Fira Code"/>
                <a:cs typeface="Fira Code"/>
                <a:sym typeface="Fira Code"/>
              </a:rPr>
              <a:t>λ</a:t>
            </a:r>
            <a:r>
              <a:rPr b="0" i="0" lang="en-US" sz="9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lambda_validacion() → 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Punto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3715207" y="4028846"/>
            <a:ext cx="257586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FB923C"/>
                </a:solidFill>
                <a:latin typeface="Fira Code"/>
                <a:ea typeface="Fira Code"/>
                <a:cs typeface="Fira Code"/>
                <a:sym typeface="Fira Code"/>
              </a:rPr>
              <a:t>λ</a:t>
            </a:r>
            <a:r>
              <a:rPr b="0" i="0" lang="en-US" sz="9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lambda_indicadores() → 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Punto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6286500" y="3810305"/>
            <a:ext cx="267553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FB923C"/>
                </a:solidFill>
                <a:latin typeface="Fira Code"/>
                <a:ea typeface="Fira Code"/>
                <a:cs typeface="Fira Code"/>
                <a:sym typeface="Fira Code"/>
              </a:rPr>
              <a:t>λ</a:t>
            </a:r>
            <a:r>
              <a:rPr b="0" i="0" lang="en-US" sz="9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lambda_montecarlo() → 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Punto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6286500" y="4028846"/>
            <a:ext cx="267553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FB923C"/>
                </a:solidFill>
                <a:latin typeface="Fira Code"/>
                <a:ea typeface="Fira Code"/>
                <a:cs typeface="Fira Code"/>
                <a:sym typeface="Fira Code"/>
              </a:rPr>
              <a:t>λ</a:t>
            </a:r>
            <a:r>
              <a:rPr b="0" i="0" lang="en-US" sz="9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lambda_prediccion_ml() → </a:t>
            </a:r>
            <a:r>
              <a:rPr b="0" i="0" lang="en-US" sz="9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Punto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8" name="Google Shape;59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00677" y="4352544"/>
            <a:ext cx="142646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9" name="Google Shape;59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48372" y="4352544"/>
            <a:ext cx="142646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0" name="Google Shape;600;p16"/>
          <p:cNvPicPr preferRelativeResize="0"/>
          <p:nvPr/>
        </p:nvPicPr>
        <p:blipFill rotWithShape="1">
          <a:blip r:embed="rId15">
            <a:alphaModFix/>
          </a:blip>
          <a:srcRect b="0" l="-1282" r="-1282" t="0"/>
          <a:stretch/>
        </p:blipFill>
        <p:spPr>
          <a:xfrm>
            <a:off x="3386023" y="476219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6"/>
          <p:cNvSpPr txBox="1"/>
          <p:nvPr/>
        </p:nvSpPr>
        <p:spPr>
          <a:xfrm>
            <a:off x="3715207" y="4667098"/>
            <a:ext cx="21799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Amazon S3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3715207" y="4886554"/>
            <a:ext cx="217993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CSV ERT (Raw &amp; Processed)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3" name="Google Shape;603;p16"/>
          <p:cNvPicPr preferRelativeResize="0"/>
          <p:nvPr/>
        </p:nvPicPr>
        <p:blipFill rotWithShape="1">
          <a:blip r:embed="rId16">
            <a:alphaModFix/>
          </a:blip>
          <a:srcRect b="0" l="-1648" r="-1648" t="0"/>
          <a:stretch/>
        </p:blipFill>
        <p:spPr>
          <a:xfrm>
            <a:off x="6458407" y="476219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6"/>
          <p:cNvSpPr txBox="1"/>
          <p:nvPr/>
        </p:nvSpPr>
        <p:spPr>
          <a:xfrm>
            <a:off x="6762902" y="4667098"/>
            <a:ext cx="21799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Amazon DynamoDB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6762902" y="4886554"/>
            <a:ext cx="21717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KPIs + Alertas | Modelos ML | Simulaciones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6" name="Google Shape;60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24982" y="5210251"/>
            <a:ext cx="142646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7" name="Google Shape;607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400654" y="5562295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6"/>
          <p:cNvSpPr txBox="1"/>
          <p:nvPr/>
        </p:nvSpPr>
        <p:spPr>
          <a:xfrm>
            <a:off x="3715207" y="5562295"/>
            <a:ext cx="516270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 CloudWatch + CodePipeline </a:t>
            </a: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← Monitoreo + CI/CD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9" name="Google Shape;609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534449" y="2866644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6"/>
          <p:cNvSpPr txBox="1"/>
          <p:nvPr/>
        </p:nvSpPr>
        <p:spPr>
          <a:xfrm>
            <a:off x="9953244" y="2809951"/>
            <a:ext cx="160020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Costo Operativo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9953244" y="2980944"/>
            <a:ext cx="181417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 USD 0</a:t>
            </a:r>
            <a:r>
              <a:rPr b="1" i="0" lang="en-US" sz="12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/mes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9881921" y="3571646"/>
            <a:ext cx="1624889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Basado en Capa Gratuita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3" name="Google Shape;613;p16"/>
          <p:cNvPicPr preferRelativeResize="0"/>
          <p:nvPr/>
        </p:nvPicPr>
        <p:blipFill rotWithShape="1">
          <a:blip r:embed="rId19">
            <a:alphaModFix/>
          </a:blip>
          <a:srcRect b="-1359" l="0" r="0" t="-1359"/>
          <a:stretch/>
        </p:blipFill>
        <p:spPr>
          <a:xfrm>
            <a:off x="9708185" y="3578047"/>
            <a:ext cx="105156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16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3" name="Google Shape;623;p17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4" name="Google Shape;624;p17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5" name="Google Shape;625;p17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6" name="Google Shape;626;p17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7"/>
          <p:cNvSpPr/>
          <p:nvPr/>
        </p:nvSpPr>
        <p:spPr>
          <a:xfrm>
            <a:off x="761695" y="1143000"/>
            <a:ext cx="10687507" cy="3353105"/>
          </a:xfrm>
          <a:prstGeom prst="roundRect">
            <a:avLst>
              <a:gd fmla="val 1240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761695" y="4953305"/>
            <a:ext cx="3362249" cy="1466698"/>
          </a:xfrm>
          <a:prstGeom prst="roundRect">
            <a:avLst>
              <a:gd fmla="val 6477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761695" y="4953305"/>
            <a:ext cx="3362249" cy="38405"/>
          </a:xfrm>
          <a:prstGeom prst="roundRect">
            <a:avLst>
              <a:gd fmla="val 247370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4410151" y="4953305"/>
            <a:ext cx="3362249" cy="1466698"/>
          </a:xfrm>
          <a:prstGeom prst="roundRect">
            <a:avLst>
              <a:gd fmla="val 6477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4410151" y="4953305"/>
            <a:ext cx="3362249" cy="38405"/>
          </a:xfrm>
          <a:prstGeom prst="roundRect">
            <a:avLst>
              <a:gd fmla="val 247370" name="adj"/>
            </a:avLst>
          </a:prstGeom>
          <a:solidFill>
            <a:srgbClr val="EAB308"/>
          </a:solidFill>
          <a:ln cap="flat" cmpd="sng" w="12700">
            <a:solidFill>
              <a:srgbClr val="EAB30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7"/>
          <p:cNvSpPr/>
          <p:nvPr/>
        </p:nvSpPr>
        <p:spPr>
          <a:xfrm>
            <a:off x="8058607" y="4953305"/>
            <a:ext cx="3362249" cy="1466698"/>
          </a:xfrm>
          <a:prstGeom prst="roundRect">
            <a:avLst>
              <a:gd fmla="val 6477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8058607" y="4953305"/>
            <a:ext cx="3362249" cy="38405"/>
          </a:xfrm>
          <a:prstGeom prst="roundRect">
            <a:avLst>
              <a:gd fmla="val 247370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4" name="Google Shape;634;p17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5" name="Google Shape;635;p17"/>
          <p:cNvPicPr preferRelativeResize="0"/>
          <p:nvPr/>
        </p:nvPicPr>
        <p:blipFill rotWithShape="1">
          <a:blip r:embed="rId8">
            <a:alphaModFix/>
          </a:blip>
          <a:srcRect b="-15" l="0" r="0" t="-15"/>
          <a:stretch/>
        </p:blipFill>
        <p:spPr>
          <a:xfrm>
            <a:off x="761695" y="1143000"/>
            <a:ext cx="10668305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7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Punto 7 — Servicios AWS Seleccionados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7" name="Google Shape;637;p17"/>
          <p:cNvGraphicFramePr/>
          <p:nvPr/>
        </p:nvGraphicFramePr>
        <p:xfrm>
          <a:off x="761695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{4C5A070C-275F-4D44-8D16-A6096F4801FB}</a:tableStyleId>
              </a:tblPr>
              <a:tblGrid>
                <a:gridCol w="1920250"/>
                <a:gridCol w="4480550"/>
                <a:gridCol w="2667300"/>
                <a:gridCol w="1600200"/>
              </a:tblGrid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Servicio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Uso en el proyecto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 gratuita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Costo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33500" marB="1335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A5FA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60A5F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Amazon S3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CSV ERT + frontend React + modelos ML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 GB/mes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$0.00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A5FA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60A5F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CloudFront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CDN + HTTPS dashboard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TB transferencia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$0.00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FB923C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AWS Lambda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 funciones Python del taller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1M requests/mes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$0.00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84FC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C084FC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API Gateway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 endpoints para frontend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1M calls/mes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$0.00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A5FA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60A5F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DynamoDB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KPIs, alertas, simulaciones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 GB storage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$0.00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78BFA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A78BF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CloudWatch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Logs + métricas + alarmas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 GB logs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$0.00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78BFA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A78BFA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CodePipeline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CI/CD GitHub → deploy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pipeline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Fira Code"/>
                        <a:buNone/>
                      </a:pPr>
                      <a:r>
                        <a:rPr lang="en-US" sz="1050" u="none" cap="none" strike="noStrike">
                          <a:solidFill>
                            <a:srgbClr val="E2E8F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$0.00</a:t>
                      </a:r>
                      <a:endParaRPr sz="1050" u="none" cap="none" strike="noStrik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1960"/>
                      </a:srgbClr>
                    </a:solidFill>
                  </a:tcPr>
                </a:tc>
              </a:tr>
              <a:tr h="3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Perfil académico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Capa gratuita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050"/>
                        <a:buFont typeface="Montserrat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4ADE8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$0.00/mes</a:t>
                      </a:r>
                      <a:endParaRPr sz="105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100" marB="95100" marR="190200" marL="190200" anchor="ctr">
                    <a:lnL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AF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descr="preencoded.png" id="638" name="Google Shape;63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949" y="51526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/>
        </p:nvSpPr>
        <p:spPr>
          <a:xfrm>
            <a:off x="1285646" y="5143500"/>
            <a:ext cx="2754173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Ventaja Operativa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7"/>
          <p:cNvSpPr txBox="1"/>
          <p:nvPr/>
        </p:nvSpPr>
        <p:spPr>
          <a:xfrm>
            <a:off x="1285646" y="5400446"/>
            <a:ext cx="2724912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Roboto"/>
                <a:ea typeface="Roboto"/>
                <a:cs typeface="Roboto"/>
                <a:sym typeface="Roboto"/>
              </a:rPr>
              <a:t>Escalabilidad automática</a:t>
            </a: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— Lambda escala de 0 a miles de ejecuciones sin requerir configuración manual.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1" name="Google Shape;64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0405" y="51526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7"/>
          <p:cNvSpPr txBox="1"/>
          <p:nvPr/>
        </p:nvSpPr>
        <p:spPr>
          <a:xfrm>
            <a:off x="4934102" y="5143500"/>
            <a:ext cx="2754173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Consideración de Rendimiento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 txBox="1"/>
          <p:nvPr/>
        </p:nvSpPr>
        <p:spPr>
          <a:xfrm>
            <a:off x="4934102" y="5400446"/>
            <a:ext cx="2724912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DE047"/>
                </a:solidFill>
                <a:latin typeface="Roboto"/>
                <a:ea typeface="Roboto"/>
                <a:cs typeface="Roboto"/>
                <a:sym typeface="Roboto"/>
              </a:rPr>
              <a:t>Cold start Lambda</a:t>
            </a: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~300–500ms en primera invocación. Mitigación: Uso de Provisioned Concurrency si es requerido.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4" name="Google Shape;644;p17"/>
          <p:cNvPicPr preferRelativeResize="0"/>
          <p:nvPr/>
        </p:nvPicPr>
        <p:blipFill rotWithShape="1">
          <a:blip r:embed="rId11">
            <a:alphaModFix/>
          </a:blip>
          <a:srcRect b="0" l="-1004" r="-1004" t="0"/>
          <a:stretch/>
        </p:blipFill>
        <p:spPr>
          <a:xfrm>
            <a:off x="8229600" y="5152644"/>
            <a:ext cx="267005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7"/>
          <p:cNvSpPr txBox="1"/>
          <p:nvPr/>
        </p:nvSpPr>
        <p:spPr>
          <a:xfrm>
            <a:off x="8581644" y="5143500"/>
            <a:ext cx="2754173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Restricción Arquitectónica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 txBox="1"/>
          <p:nvPr/>
        </p:nvSpPr>
        <p:spPr>
          <a:xfrm>
            <a:off x="8581644" y="5400446"/>
            <a:ext cx="2724912" cy="60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A74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DBA74"/>
                </a:solidFill>
                <a:latin typeface="Roboto"/>
                <a:ea typeface="Roboto"/>
                <a:cs typeface="Roboto"/>
                <a:sym typeface="Roboto"/>
              </a:rPr>
              <a:t>Límite 250 MB paquete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(NumPy+sklearn ≈ 180 MB). Solución si el modelo ML crece: Implementar Lambda Layers.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6" name="Google Shape;656;p18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7" name="Google Shape;657;p18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8" name="Google Shape;658;p18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9" name="Google Shape;659;p18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8"/>
          <p:cNvSpPr/>
          <p:nvPr/>
        </p:nvSpPr>
        <p:spPr>
          <a:xfrm>
            <a:off x="761695" y="1047902"/>
            <a:ext cx="5352898" cy="3448202"/>
          </a:xfrm>
          <a:prstGeom prst="roundRect">
            <a:avLst>
              <a:gd fmla="val 1172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6381598" y="1047902"/>
            <a:ext cx="5095951" cy="972007"/>
          </a:xfrm>
          <a:prstGeom prst="roundRect">
            <a:avLst>
              <a:gd fmla="val 14757" name="adj"/>
            </a:avLst>
          </a:prstGeom>
          <a:solidFill>
            <a:srgbClr val="3B82F6">
              <a:alpha val="5098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6381598" y="1047902"/>
            <a:ext cx="38405" cy="972007"/>
          </a:xfrm>
          <a:prstGeom prst="roundRect">
            <a:avLst>
              <a:gd fmla="val 373481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8"/>
          <p:cNvSpPr/>
          <p:nvPr/>
        </p:nvSpPr>
        <p:spPr>
          <a:xfrm>
            <a:off x="6381598" y="2238451"/>
            <a:ext cx="5095951" cy="972007"/>
          </a:xfrm>
          <a:prstGeom prst="roundRect">
            <a:avLst>
              <a:gd fmla="val 14757" name="adj"/>
            </a:avLst>
          </a:prstGeom>
          <a:solidFill>
            <a:srgbClr val="A855F7">
              <a:alpha val="5098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8"/>
          <p:cNvSpPr/>
          <p:nvPr/>
        </p:nvSpPr>
        <p:spPr>
          <a:xfrm>
            <a:off x="6381598" y="2238451"/>
            <a:ext cx="38405" cy="972007"/>
          </a:xfrm>
          <a:prstGeom prst="roundRect">
            <a:avLst>
              <a:gd fmla="val 373481" name="adj"/>
            </a:avLst>
          </a:prstGeom>
          <a:solidFill>
            <a:srgbClr val="A855F7"/>
          </a:solidFill>
          <a:ln cap="flat" cmpd="sng" w="12700">
            <a:solidFill>
              <a:srgbClr val="A85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8"/>
          <p:cNvSpPr/>
          <p:nvPr/>
        </p:nvSpPr>
        <p:spPr>
          <a:xfrm>
            <a:off x="6381598" y="3429000"/>
            <a:ext cx="5095951" cy="972007"/>
          </a:xfrm>
          <a:prstGeom prst="roundRect">
            <a:avLst>
              <a:gd fmla="val 14757" name="adj"/>
            </a:avLst>
          </a:prstGeom>
          <a:solidFill>
            <a:srgbClr val="22C55E">
              <a:alpha val="5098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6381598" y="3429000"/>
            <a:ext cx="38405" cy="972007"/>
          </a:xfrm>
          <a:prstGeom prst="roundRect">
            <a:avLst>
              <a:gd fmla="val 373481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7" name="Google Shape;667;p18"/>
          <p:cNvPicPr preferRelativeResize="0"/>
          <p:nvPr/>
        </p:nvPicPr>
        <p:blipFill rotWithShape="1">
          <a:blip r:embed="rId7">
            <a:alphaModFix/>
          </a:blip>
          <a:srcRect b="-397" l="0" r="0" t="-397"/>
          <a:stretch/>
        </p:blipFill>
        <p:spPr>
          <a:xfrm>
            <a:off x="1714500" y="5191049"/>
            <a:ext cx="8287207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8" name="Google Shape;668;p18"/>
          <p:cNvPicPr preferRelativeResize="0"/>
          <p:nvPr/>
        </p:nvPicPr>
        <p:blipFill rotWithShape="1">
          <a:blip r:embed="rId8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9" name="Google Shape;669;p18"/>
          <p:cNvPicPr preferRelativeResize="0"/>
          <p:nvPr/>
        </p:nvPicPr>
        <p:blipFill rotWithShape="1">
          <a:blip r:embed="rId9">
            <a:alphaModFix/>
          </a:blip>
          <a:srcRect b="0" l="-51" r="-51" t="0"/>
          <a:stretch/>
        </p:blipFill>
        <p:spPr>
          <a:xfrm>
            <a:off x="761695" y="1047902"/>
            <a:ext cx="5333695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8"/>
          <p:cNvSpPr/>
          <p:nvPr/>
        </p:nvSpPr>
        <p:spPr>
          <a:xfrm>
            <a:off x="1619402" y="5095951"/>
            <a:ext cx="286207" cy="286207"/>
          </a:xfrm>
          <a:prstGeom prst="ellipse">
            <a:avLst/>
          </a:prstGeom>
          <a:solidFill>
            <a:srgbClr val="22C55E"/>
          </a:solidFill>
          <a:ln cap="flat" cmpd="sng" w="508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4381805" y="5095951"/>
            <a:ext cx="286207" cy="286207"/>
          </a:xfrm>
          <a:prstGeom prst="ellipse">
            <a:avLst/>
          </a:prstGeom>
          <a:solidFill>
            <a:srgbClr val="22C55E"/>
          </a:solidFill>
          <a:ln cap="flat" cmpd="sng" w="508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7144207" y="5095951"/>
            <a:ext cx="286207" cy="286207"/>
          </a:xfrm>
          <a:prstGeom prst="ellipse">
            <a:avLst/>
          </a:prstGeom>
          <a:solidFill>
            <a:srgbClr val="22C55E"/>
          </a:solidFill>
          <a:ln cap="flat" cmpd="sng" w="508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8"/>
          <p:cNvSpPr/>
          <p:nvPr/>
        </p:nvSpPr>
        <p:spPr>
          <a:xfrm>
            <a:off x="9905695" y="5095951"/>
            <a:ext cx="286207" cy="286207"/>
          </a:xfrm>
          <a:prstGeom prst="ellipse">
            <a:avLst/>
          </a:prstGeom>
          <a:solidFill>
            <a:srgbClr val="22C55E"/>
          </a:solidFill>
          <a:ln cap="flat" cmpd="sng" w="508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8"/>
          <p:cNvSpPr/>
          <p:nvPr/>
        </p:nvSpPr>
        <p:spPr>
          <a:xfrm>
            <a:off x="905256" y="1162202"/>
            <a:ext cx="114300" cy="1143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8"/>
          <p:cNvSpPr/>
          <p:nvPr/>
        </p:nvSpPr>
        <p:spPr>
          <a:xfrm>
            <a:off x="1095451" y="1162202"/>
            <a:ext cx="114300" cy="114300"/>
          </a:xfrm>
          <a:prstGeom prst="ellipse">
            <a:avLst/>
          </a:prstGeom>
          <a:solidFill>
            <a:srgbClr val="EAB30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1285646" y="1162202"/>
            <a:ext cx="114300" cy="1143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"/>
          <p:cNvSpPr txBox="1"/>
          <p:nvPr/>
        </p:nvSpPr>
        <p:spPr>
          <a:xfrm>
            <a:off x="761695" y="381305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Repositorio GitHub — Evidencia Técnica Completa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8"/>
          <p:cNvSpPr txBox="1"/>
          <p:nvPr/>
        </p:nvSpPr>
        <p:spPr>
          <a:xfrm>
            <a:off x="1524305" y="1123798"/>
            <a:ext cx="39246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bash - repo-estructura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9" name="Google Shape;679;p18"/>
          <p:cNvPicPr preferRelativeResize="0"/>
          <p:nvPr/>
        </p:nvPicPr>
        <p:blipFill rotWithShape="1">
          <a:blip r:embed="rId10">
            <a:alphaModFix/>
          </a:blip>
          <a:srcRect b="0" l="-63" r="-63" t="0"/>
          <a:stretch/>
        </p:blipFill>
        <p:spPr>
          <a:xfrm>
            <a:off x="6644030" y="1352398"/>
            <a:ext cx="295351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18"/>
          <p:cNvSpPr txBox="1"/>
          <p:nvPr/>
        </p:nvSpPr>
        <p:spPr>
          <a:xfrm>
            <a:off x="7095744" y="1238098"/>
            <a:ext cx="421081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Repositorio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 txBox="1"/>
          <p:nvPr/>
        </p:nvSpPr>
        <p:spPr>
          <a:xfrm>
            <a:off x="7095744" y="1476756"/>
            <a:ext cx="4172407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github.com/santiagocano298366/taller-ert-fundamentos-programacion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2" name="Google Shape;68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38544" y="2542946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8"/>
          <p:cNvSpPr txBox="1"/>
          <p:nvPr/>
        </p:nvSpPr>
        <p:spPr>
          <a:xfrm>
            <a:off x="7095744" y="2476195"/>
            <a:ext cx="421081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Prototipo Lovable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 txBox="1"/>
          <p:nvPr/>
        </p:nvSpPr>
        <p:spPr>
          <a:xfrm>
            <a:off x="7095744" y="2714854"/>
            <a:ext cx="421081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lovable.dev/projects/23e1851e...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5" name="Google Shape;685;p18"/>
          <p:cNvPicPr preferRelativeResize="0"/>
          <p:nvPr/>
        </p:nvPicPr>
        <p:blipFill rotWithShape="1">
          <a:blip r:embed="rId12">
            <a:alphaModFix/>
          </a:blip>
          <a:srcRect b="0" l="-107" r="-107" t="0"/>
          <a:stretch/>
        </p:blipFill>
        <p:spPr>
          <a:xfrm>
            <a:off x="6657746" y="3733495"/>
            <a:ext cx="2670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8"/>
          <p:cNvSpPr txBox="1"/>
          <p:nvPr/>
        </p:nvSpPr>
        <p:spPr>
          <a:xfrm>
            <a:off x="7095744" y="3666744"/>
            <a:ext cx="421081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Dataset Original (ESS-DIVE)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 txBox="1"/>
          <p:nvPr/>
        </p:nvSpPr>
        <p:spPr>
          <a:xfrm>
            <a:off x="7095744" y="3905402"/>
            <a:ext cx="421081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doi:10.15485/1969563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 txBox="1"/>
          <p:nvPr/>
        </p:nvSpPr>
        <p:spPr>
          <a:xfrm>
            <a:off x="761695" y="4667098"/>
            <a:ext cx="107826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Historial de Commits Principales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9" name="Google Shape;689;p18"/>
          <p:cNvPicPr preferRelativeResize="0"/>
          <p:nvPr/>
        </p:nvPicPr>
        <p:blipFill rotWithShape="1">
          <a:blip r:embed="rId13">
            <a:alphaModFix/>
          </a:blip>
          <a:srcRect b="0" l="-1648" r="-1648" t="0"/>
          <a:stretch/>
        </p:blipFill>
        <p:spPr>
          <a:xfrm>
            <a:off x="1681582" y="5152644"/>
            <a:ext cx="85954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8"/>
          <p:cNvSpPr txBox="1"/>
          <p:nvPr/>
        </p:nvSpPr>
        <p:spPr>
          <a:xfrm>
            <a:off x="525780" y="54297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00"/>
              <a:buFont typeface="Fira Code"/>
              <a:buNone/>
            </a:pPr>
            <a:r>
              <a:rPr b="1" i="0" lang="en-US" sz="900" u="none" cap="none" strike="noStrik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feat: Puntos 1–4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 txBox="1"/>
          <p:nvPr/>
        </p:nvSpPr>
        <p:spPr>
          <a:xfrm>
            <a:off x="533095" y="5648249"/>
            <a:ext cx="23628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Código Python + resultados CSV + gráfico 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2" name="Google Shape;692;p18"/>
          <p:cNvPicPr preferRelativeResize="0"/>
          <p:nvPr/>
        </p:nvPicPr>
        <p:blipFill rotWithShape="1">
          <a:blip r:embed="rId13">
            <a:alphaModFix/>
          </a:blip>
          <a:srcRect b="0" l="-1648" r="-1648" t="0"/>
          <a:stretch/>
        </p:blipFill>
        <p:spPr>
          <a:xfrm>
            <a:off x="4443070" y="5152644"/>
            <a:ext cx="85954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18"/>
          <p:cNvSpPr txBox="1"/>
          <p:nvPr/>
        </p:nvSpPr>
        <p:spPr>
          <a:xfrm>
            <a:off x="3288182" y="54297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00"/>
              <a:buFont typeface="Fira Code"/>
              <a:buNone/>
            </a:pPr>
            <a:r>
              <a:rPr b="1" i="0" lang="en-US" sz="900" u="none" cap="none" strike="noStrik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feat: Punto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 txBox="1"/>
          <p:nvPr/>
        </p:nvSpPr>
        <p:spPr>
          <a:xfrm>
            <a:off x="3295498" y="5648249"/>
            <a:ext cx="23628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Avance proyecto + 8 referencias revisión literatura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5" name="Google Shape;695;p18"/>
          <p:cNvPicPr preferRelativeResize="0"/>
          <p:nvPr/>
        </p:nvPicPr>
        <p:blipFill rotWithShape="1">
          <a:blip r:embed="rId13">
            <a:alphaModFix/>
          </a:blip>
          <a:srcRect b="0" l="-1648" r="-1648" t="0"/>
          <a:stretch/>
        </p:blipFill>
        <p:spPr>
          <a:xfrm>
            <a:off x="7205472" y="5152644"/>
            <a:ext cx="85954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8"/>
          <p:cNvSpPr txBox="1"/>
          <p:nvPr/>
        </p:nvSpPr>
        <p:spPr>
          <a:xfrm>
            <a:off x="6050585" y="54297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00"/>
              <a:buFont typeface="Fira Code"/>
              <a:buNone/>
            </a:pPr>
            <a:r>
              <a:rPr b="1" i="0" lang="en-US" sz="900" u="none" cap="none" strike="noStrik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feat: Punto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 txBox="1"/>
          <p:nvPr/>
        </p:nvSpPr>
        <p:spPr>
          <a:xfrm>
            <a:off x="5878678" y="5648249"/>
            <a:ext cx="272034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Prototipo Lovable + documentación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8" name="Google Shape;698;p18"/>
          <p:cNvPicPr preferRelativeResize="0"/>
          <p:nvPr/>
        </p:nvPicPr>
        <p:blipFill rotWithShape="1">
          <a:blip r:embed="rId13">
            <a:alphaModFix/>
          </a:blip>
          <a:srcRect b="0" l="-1648" r="-1648" t="0"/>
          <a:stretch/>
        </p:blipFill>
        <p:spPr>
          <a:xfrm>
            <a:off x="9967874" y="5152644"/>
            <a:ext cx="85954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8"/>
          <p:cNvSpPr txBox="1"/>
          <p:nvPr/>
        </p:nvSpPr>
        <p:spPr>
          <a:xfrm>
            <a:off x="8812987" y="54297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00"/>
              <a:buFont typeface="Fira Code"/>
              <a:buNone/>
            </a:pPr>
            <a:r>
              <a:rPr b="1" i="0" lang="en-US" sz="900" u="none" cap="none" strike="noStrik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feat: Punto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 txBox="1"/>
          <p:nvPr/>
        </p:nvSpPr>
        <p:spPr>
          <a:xfrm>
            <a:off x="8820302" y="5648249"/>
            <a:ext cx="23628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Consulta metodológica AWS arquitectura + costos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 txBox="1"/>
          <p:nvPr/>
        </p:nvSpPr>
        <p:spPr>
          <a:xfrm>
            <a:off x="905250" y="1417200"/>
            <a:ext cx="3000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taller-ert-fundamentos-programacion/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lang="en-US" sz="100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📓 notebook/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└──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taller_ert_completo.ipynb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lang="en-US" sz="100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📊 resultados/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├── </a:t>
            </a:r>
            <a:r>
              <a:rPr lang="en-US" sz="1000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tablas/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│   ├──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p1_registros_validos.csv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│   ├──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p2_registros_30dias.csv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│   ├──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p3_kpis_por_periodo.csv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│   ├──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p4_muestra_simulaciones.csv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│   └──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p4_resumen_montecarlo.csv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└── </a:t>
            </a:r>
            <a:r>
              <a:rPr lang="en-US" sz="1000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graficos/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│       └──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p4_montecarlo_cobertura_ert.png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└── </a:t>
            </a:r>
            <a:r>
              <a:rPr lang="en-US" sz="1000">
                <a:solidFill>
                  <a:srgbClr val="EAB308"/>
                </a:solidFill>
                <a:latin typeface="Fira Code"/>
                <a:ea typeface="Fira Code"/>
                <a:cs typeface="Fira Code"/>
                <a:sym typeface="Fira Code"/>
              </a:rPr>
              <a:t>📄 documentacion/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    ├──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p5_avance_proyecto_final.md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    ├──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p6_prototipo_lovable.md</a:t>
            </a:r>
            <a:endParaRPr sz="1000">
              <a:solidFill>
                <a:srgbClr val="CBD5E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    └── </a:t>
            </a:r>
            <a:r>
              <a:rPr lang="en-US" sz="10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p7_consulta_aws.md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1" name="Google Shape;711;p19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2" name="Google Shape;712;p19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3" name="Google Shape;713;p19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4" name="Google Shape;714;p19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9"/>
          <p:cNvSpPr/>
          <p:nvPr/>
        </p:nvSpPr>
        <p:spPr>
          <a:xfrm>
            <a:off x="761695" y="1714500"/>
            <a:ext cx="5181905" cy="1285646"/>
          </a:xfrm>
          <a:prstGeom prst="roundRect">
            <a:avLst>
              <a:gd fmla="val 6322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9"/>
          <p:cNvSpPr/>
          <p:nvPr/>
        </p:nvSpPr>
        <p:spPr>
          <a:xfrm>
            <a:off x="761695" y="1714500"/>
            <a:ext cx="38405" cy="1285646"/>
          </a:xfrm>
          <a:prstGeom prst="roundRect">
            <a:avLst>
              <a:gd fmla="val 211639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9"/>
          <p:cNvSpPr/>
          <p:nvPr/>
        </p:nvSpPr>
        <p:spPr>
          <a:xfrm>
            <a:off x="761695" y="3191256"/>
            <a:ext cx="5181905" cy="1285646"/>
          </a:xfrm>
          <a:prstGeom prst="roundRect">
            <a:avLst>
              <a:gd fmla="val 6322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9"/>
          <p:cNvSpPr/>
          <p:nvPr/>
        </p:nvSpPr>
        <p:spPr>
          <a:xfrm>
            <a:off x="761695" y="3191256"/>
            <a:ext cx="38405" cy="1285646"/>
          </a:xfrm>
          <a:prstGeom prst="roundRect">
            <a:avLst>
              <a:gd fmla="val 211639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9"/>
          <p:cNvSpPr/>
          <p:nvPr/>
        </p:nvSpPr>
        <p:spPr>
          <a:xfrm>
            <a:off x="761695" y="4667098"/>
            <a:ext cx="5181905" cy="1285646"/>
          </a:xfrm>
          <a:prstGeom prst="roundRect">
            <a:avLst>
              <a:gd fmla="val 6322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9"/>
          <p:cNvSpPr/>
          <p:nvPr/>
        </p:nvSpPr>
        <p:spPr>
          <a:xfrm>
            <a:off x="761695" y="4667098"/>
            <a:ext cx="38405" cy="1285646"/>
          </a:xfrm>
          <a:prstGeom prst="roundRect">
            <a:avLst>
              <a:gd fmla="val 211639" name="adj"/>
            </a:avLst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9"/>
          <p:cNvSpPr/>
          <p:nvPr/>
        </p:nvSpPr>
        <p:spPr>
          <a:xfrm>
            <a:off x="6286500" y="1714500"/>
            <a:ext cx="5181905" cy="1285646"/>
          </a:xfrm>
          <a:prstGeom prst="roundRect">
            <a:avLst>
              <a:gd fmla="val 6322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9"/>
          <p:cNvSpPr/>
          <p:nvPr/>
        </p:nvSpPr>
        <p:spPr>
          <a:xfrm>
            <a:off x="6286500" y="1714500"/>
            <a:ext cx="38405" cy="1285646"/>
          </a:xfrm>
          <a:prstGeom prst="roundRect">
            <a:avLst>
              <a:gd fmla="val 211639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6286500" y="3191256"/>
            <a:ext cx="5181905" cy="1285646"/>
          </a:xfrm>
          <a:prstGeom prst="roundRect">
            <a:avLst>
              <a:gd fmla="val 6322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9"/>
          <p:cNvSpPr/>
          <p:nvPr/>
        </p:nvSpPr>
        <p:spPr>
          <a:xfrm>
            <a:off x="6286500" y="3191256"/>
            <a:ext cx="38405" cy="1285646"/>
          </a:xfrm>
          <a:prstGeom prst="roundRect">
            <a:avLst>
              <a:gd fmla="val 211639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6286500" y="4667098"/>
            <a:ext cx="5181905" cy="1285646"/>
          </a:xfrm>
          <a:prstGeom prst="roundRect">
            <a:avLst>
              <a:gd fmla="val 6322" name="adj"/>
            </a:avLst>
          </a:prstGeom>
          <a:solidFill>
            <a:srgbClr val="1E293B"/>
          </a:solidFill>
          <a:ln>
            <a:noFill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9"/>
          <p:cNvSpPr/>
          <p:nvPr/>
        </p:nvSpPr>
        <p:spPr>
          <a:xfrm>
            <a:off x="6286500" y="4667098"/>
            <a:ext cx="38405" cy="1285646"/>
          </a:xfrm>
          <a:prstGeom prst="roundRect">
            <a:avLst>
              <a:gd fmla="val 211639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7" name="Google Shape;727;p19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19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9"/>
          <p:cNvSpPr/>
          <p:nvPr/>
        </p:nvSpPr>
        <p:spPr>
          <a:xfrm>
            <a:off x="761695" y="1447495"/>
            <a:ext cx="2210105" cy="1920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9"/>
          <p:cNvSpPr txBox="1"/>
          <p:nvPr/>
        </p:nvSpPr>
        <p:spPr>
          <a:xfrm>
            <a:off x="761695" y="1143000"/>
            <a:ext cx="2286000" cy="22951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Montserrat"/>
                <a:ea typeface="Montserrat"/>
                <a:cs typeface="Montserrat"/>
                <a:sym typeface="Montserrat"/>
              </a:rPr>
              <a:t>Conclusiones Técnicas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1" name="Google Shape;73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56" y="19238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19"/>
          <p:cNvSpPr txBox="1"/>
          <p:nvPr/>
        </p:nvSpPr>
        <p:spPr>
          <a:xfrm>
            <a:off x="1429207" y="1857146"/>
            <a:ext cx="42675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Se construyó un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sistema de monitoreo ERT funcional en Python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que valida, clasifica y analiza resistividad del suelo con ciclos, condicionales, listas, NumPy y visualizaciones.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3" name="Google Shape;73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56" y="34006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19"/>
          <p:cNvSpPr txBox="1"/>
          <p:nvPr/>
        </p:nvSpPr>
        <p:spPr>
          <a:xfrm>
            <a:off x="1429207" y="3333902"/>
            <a:ext cx="426750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Los 4 KPIs con semáforo revelan que el </a:t>
            </a:r>
            <a:r>
              <a:rPr b="1" i="0" lang="en-US" sz="12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Invierno 2017 es el período más crítico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(2 KPIs en ROJO), mientras que la Primavera 2017 representa la condición operativa ideal de referencia.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5" name="Google Shape;73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56" y="48764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9"/>
          <p:cNvSpPr txBox="1"/>
          <p:nvPr/>
        </p:nvSpPr>
        <p:spPr>
          <a:xfrm>
            <a:off x="1429207" y="4809744"/>
            <a:ext cx="42675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La simulación Montecarlo con 10,000 iteraciones cuantifica el riesgo: </a:t>
            </a:r>
            <a:r>
              <a:rPr b="1" i="0" lang="en-US" sz="1200" u="none" cap="none" strike="noStrike">
                <a:solidFill>
                  <a:srgbClr val="EAB308"/>
                </a:solidFill>
                <a:latin typeface="Roboto"/>
                <a:ea typeface="Roboto"/>
                <a:cs typeface="Roboto"/>
                <a:sym typeface="Roboto"/>
              </a:rPr>
              <a:t>P(cobertura ≥ 85%) = 44.92%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, lo que justifica inversión en batería de respaldo antes de cada temporada invernal.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9"/>
          <p:cNvSpPr/>
          <p:nvPr/>
        </p:nvSpPr>
        <p:spPr>
          <a:xfrm>
            <a:off x="6286500" y="1447495"/>
            <a:ext cx="2590495" cy="1920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9"/>
          <p:cNvSpPr txBox="1"/>
          <p:nvPr/>
        </p:nvSpPr>
        <p:spPr>
          <a:xfrm>
            <a:off x="6286500" y="1143000"/>
            <a:ext cx="2667305" cy="22951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Conclusiones del Proyecto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9" name="Google Shape;73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3446" y="19238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19"/>
          <p:cNvSpPr txBox="1"/>
          <p:nvPr/>
        </p:nvSpPr>
        <p:spPr>
          <a:xfrm>
            <a:off x="6953098" y="1857146"/>
            <a:ext cx="42675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El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prototipo Lovable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demuestra que los resultados computacionales pueden traducirse en una interfaz operativa accesible para usuarios no expertos en geofísica.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1" name="Google Shape;741;p19"/>
          <p:cNvPicPr preferRelativeResize="0"/>
          <p:nvPr/>
        </p:nvPicPr>
        <p:blipFill rotWithShape="1">
          <a:blip r:embed="rId10">
            <a:alphaModFix/>
          </a:blip>
          <a:srcRect b="0" l="-80" r="-80" t="0"/>
          <a:stretch/>
        </p:blipFill>
        <p:spPr>
          <a:xfrm>
            <a:off x="6515100" y="3400654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19"/>
          <p:cNvSpPr txBox="1"/>
          <p:nvPr/>
        </p:nvSpPr>
        <p:spPr>
          <a:xfrm>
            <a:off x="6953098" y="3333902"/>
            <a:ext cx="42675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arquitectura AWS propuesta es viable a costo cero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para el volumen académico, con escalabilidad automática mediante Lambda y almacenamiento seguro en S3.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3" name="Google Shape;74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43446" y="48764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19"/>
          <p:cNvSpPr txBox="1"/>
          <p:nvPr/>
        </p:nvSpPr>
        <p:spPr>
          <a:xfrm>
            <a:off x="6953098" y="4809744"/>
            <a:ext cx="42675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El proyecto final propone reducir el costo de monitoreo hídrico de USD 500–2,000 a </a:t>
            </a:r>
            <a:r>
              <a:rPr b="1" i="0" lang="en-US" sz="1200" u="none" cap="none" strike="noStrike">
                <a:solidFill>
                  <a:srgbClr val="22C55E"/>
                </a:solidFill>
                <a:latin typeface="Roboto"/>
                <a:ea typeface="Roboto"/>
                <a:cs typeface="Roboto"/>
                <a:sym typeface="Roboto"/>
              </a:rPr>
              <a:t>&lt; USD 150 por nodo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, democratizando el acceso a tecnología de precisión.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9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9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4" name="Google Shape;754;p20"/>
          <p:cNvPicPr preferRelativeResize="0"/>
          <p:nvPr/>
        </p:nvPicPr>
        <p:blipFill rotWithShape="1">
          <a:blip r:embed="rId3">
            <a:alphaModFix/>
          </a:blip>
          <a:srcRect b="0" l="-196" r="-196" t="0"/>
          <a:stretch/>
        </p:blipFill>
        <p:spPr>
          <a:xfrm>
            <a:off x="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5" name="Google Shape;755;p20"/>
          <p:cNvPicPr preferRelativeResize="0"/>
          <p:nvPr/>
        </p:nvPicPr>
        <p:blipFill rotWithShape="1">
          <a:blip r:embed="rId4">
            <a:alphaModFix/>
          </a:blip>
          <a:srcRect b="0" l="-196" r="-196" t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6" name="Google Shape;756;p20"/>
          <p:cNvPicPr preferRelativeResize="0"/>
          <p:nvPr/>
        </p:nvPicPr>
        <p:blipFill rotWithShape="1">
          <a:blip r:embed="rId5">
            <a:alphaModFix/>
          </a:blip>
          <a:srcRect b="0" l="-196" r="-196" t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7" name="Google Shape;757;p20"/>
          <p:cNvPicPr preferRelativeResize="0"/>
          <p:nvPr/>
        </p:nvPicPr>
        <p:blipFill rotWithShape="1">
          <a:blip r:embed="rId6">
            <a:alphaModFix/>
          </a:blip>
          <a:srcRect b="0" l="-196" r="-196" t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8" name="Google Shape;758;p20"/>
          <p:cNvPicPr preferRelativeResize="0"/>
          <p:nvPr/>
        </p:nvPicPr>
        <p:blipFill rotWithShape="1">
          <a:blip r:embed="rId7">
            <a:alphaModFix/>
          </a:blip>
          <a:srcRect b="-402" l="0" r="0" t="-402"/>
          <a:stretch/>
        </p:blipFill>
        <p:spPr>
          <a:xfrm>
            <a:off x="1714500" y="1524305"/>
            <a:ext cx="876269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20"/>
          <p:cNvSpPr/>
          <p:nvPr/>
        </p:nvSpPr>
        <p:spPr>
          <a:xfrm>
            <a:off x="1333195" y="3524098"/>
            <a:ext cx="9544507" cy="1067105"/>
          </a:xfrm>
          <a:prstGeom prst="roundRect">
            <a:avLst>
              <a:gd fmla="val 12241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0" name="Google Shape;760;p20"/>
          <p:cNvPicPr preferRelativeResize="0"/>
          <p:nvPr/>
        </p:nvPicPr>
        <p:blipFill rotWithShape="1">
          <a:blip r:embed="rId8">
            <a:alphaModFix/>
          </a:blip>
          <a:srcRect b="0" l="-2083" r="-2083" t="0"/>
          <a:stretch/>
        </p:blipFill>
        <p:spPr>
          <a:xfrm>
            <a:off x="761695" y="6524244"/>
            <a:ext cx="106683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0"/>
          <p:cNvSpPr/>
          <p:nvPr/>
        </p:nvSpPr>
        <p:spPr>
          <a:xfrm>
            <a:off x="1571854" y="1399946"/>
            <a:ext cx="286207" cy="286207"/>
          </a:xfrm>
          <a:prstGeom prst="ellipse">
            <a:avLst/>
          </a:prstGeom>
          <a:solidFill>
            <a:srgbClr val="0F172A"/>
          </a:solidFill>
          <a:ln cap="flat" cmpd="sng" w="508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0"/>
          <p:cNvSpPr/>
          <p:nvPr/>
        </p:nvSpPr>
        <p:spPr>
          <a:xfrm>
            <a:off x="4429354" y="1399946"/>
            <a:ext cx="286207" cy="286207"/>
          </a:xfrm>
          <a:prstGeom prst="ellipse">
            <a:avLst/>
          </a:prstGeom>
          <a:solidFill>
            <a:srgbClr val="0F172A"/>
          </a:solidFill>
          <a:ln cap="flat" cmpd="sng" w="508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0"/>
          <p:cNvSpPr/>
          <p:nvPr/>
        </p:nvSpPr>
        <p:spPr>
          <a:xfrm>
            <a:off x="7286854" y="1399946"/>
            <a:ext cx="286207" cy="286207"/>
          </a:xfrm>
          <a:prstGeom prst="ellipse">
            <a:avLst/>
          </a:prstGeom>
          <a:solidFill>
            <a:srgbClr val="0F172A"/>
          </a:solidFill>
          <a:ln cap="flat" cmpd="sng" w="508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0"/>
          <p:cNvSpPr/>
          <p:nvPr/>
        </p:nvSpPr>
        <p:spPr>
          <a:xfrm>
            <a:off x="10144354" y="1399946"/>
            <a:ext cx="286207" cy="286207"/>
          </a:xfrm>
          <a:prstGeom prst="ellipse">
            <a:avLst/>
          </a:prstGeom>
          <a:solidFill>
            <a:srgbClr val="0F172A"/>
          </a:solidFill>
          <a:ln cap="flat" cmpd="sng" w="508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0"/>
          <p:cNvSpPr txBox="1"/>
          <p:nvPr/>
        </p:nvSpPr>
        <p:spPr>
          <a:xfrm>
            <a:off x="761695" y="381305"/>
            <a:ext cx="10858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Trabajo Futuro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6" name="Google Shape;766;p20"/>
          <p:cNvPicPr preferRelativeResize="0"/>
          <p:nvPr/>
        </p:nvPicPr>
        <p:blipFill rotWithShape="1">
          <a:blip r:embed="rId9">
            <a:alphaModFix/>
          </a:blip>
          <a:srcRect b="-1100" l="0" r="0" t="-1100"/>
          <a:stretch/>
        </p:blipFill>
        <p:spPr>
          <a:xfrm>
            <a:off x="1657807" y="1476756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20"/>
          <p:cNvSpPr txBox="1"/>
          <p:nvPr/>
        </p:nvSpPr>
        <p:spPr>
          <a:xfrm>
            <a:off x="624535" y="1857146"/>
            <a:ext cx="21799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Montserrat"/>
                <a:ea typeface="Montserrat"/>
                <a:cs typeface="Montserrat"/>
                <a:sym typeface="Montserrat"/>
              </a:rPr>
              <a:t>FASE ACTUAL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 txBox="1"/>
          <p:nvPr/>
        </p:nvSpPr>
        <p:spPr>
          <a:xfrm>
            <a:off x="624535" y="2143354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Roboto"/>
                <a:ea typeface="Roboto"/>
                <a:cs typeface="Roboto"/>
                <a:sym typeface="Roboto"/>
              </a:rPr>
              <a:t>(✅ Completada)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 txBox="1"/>
          <p:nvPr/>
        </p:nvSpPr>
        <p:spPr>
          <a:xfrm>
            <a:off x="624535" y="2405786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Python + KPIs + Montecarlo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0"/>
          <p:cNvSpPr txBox="1"/>
          <p:nvPr/>
        </p:nvSpPr>
        <p:spPr>
          <a:xfrm>
            <a:off x="624535" y="2630729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Dashboard Lovable + AWS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1" name="Google Shape;77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15307" y="148590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20"/>
          <p:cNvSpPr txBox="1"/>
          <p:nvPr/>
        </p:nvSpPr>
        <p:spPr>
          <a:xfrm>
            <a:off x="3482035" y="1857146"/>
            <a:ext cx="21799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FASE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0"/>
          <p:cNvSpPr txBox="1"/>
          <p:nvPr/>
        </p:nvSpPr>
        <p:spPr>
          <a:xfrm>
            <a:off x="3482035" y="2143354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0A5FA"/>
                </a:solidFill>
                <a:latin typeface="Roboto"/>
                <a:ea typeface="Roboto"/>
                <a:cs typeface="Roboto"/>
                <a:sym typeface="Roboto"/>
              </a:rPr>
              <a:t>(Próximos 3 meses)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 txBox="1"/>
          <p:nvPr/>
        </p:nvSpPr>
        <p:spPr>
          <a:xfrm>
            <a:off x="3486607" y="2405786"/>
            <a:ext cx="217170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Entrenamiento modelos ML RF / XGBoost / MLP con dataset ERT completo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5" name="Google Shape;77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72807" y="148590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0"/>
          <p:cNvSpPr txBox="1"/>
          <p:nvPr/>
        </p:nvSpPr>
        <p:spPr>
          <a:xfrm>
            <a:off x="6339535" y="1857146"/>
            <a:ext cx="21799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ACC15"/>
                </a:solidFill>
                <a:latin typeface="Montserrat"/>
                <a:ea typeface="Montserrat"/>
                <a:cs typeface="Montserrat"/>
                <a:sym typeface="Montserrat"/>
              </a:rPr>
              <a:t>FASE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 txBox="1"/>
          <p:nvPr/>
        </p:nvSpPr>
        <p:spPr>
          <a:xfrm>
            <a:off x="6339535" y="2143354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ACC15"/>
                </a:solidFill>
                <a:latin typeface="Roboto"/>
                <a:ea typeface="Roboto"/>
                <a:cs typeface="Roboto"/>
                <a:sym typeface="Roboto"/>
              </a:rPr>
              <a:t>(Meses 4–6)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 txBox="1"/>
          <p:nvPr/>
        </p:nvSpPr>
        <p:spPr>
          <a:xfrm>
            <a:off x="6339535" y="2405786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Prototipo hardware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0"/>
          <p:cNvSpPr txBox="1"/>
          <p:nvPr/>
        </p:nvSpPr>
        <p:spPr>
          <a:xfrm>
            <a:off x="6344107" y="2630729"/>
            <a:ext cx="21717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AD5933 + electrodos &lt; USD 150 por unidad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0" name="Google Shape;78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30307" y="148590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20"/>
          <p:cNvSpPr txBox="1"/>
          <p:nvPr/>
        </p:nvSpPr>
        <p:spPr>
          <a:xfrm>
            <a:off x="9197035" y="1857146"/>
            <a:ext cx="21799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Montserrat"/>
                <a:ea typeface="Montserrat"/>
                <a:cs typeface="Montserrat"/>
                <a:sym typeface="Montserrat"/>
              </a:rPr>
              <a:t>FASE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0"/>
          <p:cNvSpPr txBox="1"/>
          <p:nvPr/>
        </p:nvSpPr>
        <p:spPr>
          <a:xfrm>
            <a:off x="9197035" y="2143354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F87171"/>
                </a:solidFill>
                <a:latin typeface="Roboto"/>
                <a:ea typeface="Roboto"/>
                <a:cs typeface="Roboto"/>
                <a:sym typeface="Roboto"/>
              </a:rPr>
              <a:t>(Meses 7–9)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 txBox="1"/>
          <p:nvPr/>
        </p:nvSpPr>
        <p:spPr>
          <a:xfrm>
            <a:off x="9197035" y="2405786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Validación en campo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 txBox="1"/>
          <p:nvPr/>
        </p:nvSpPr>
        <p:spPr>
          <a:xfrm>
            <a:off x="9197035" y="2630729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despliegue AWS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0"/>
          <p:cNvSpPr txBox="1"/>
          <p:nvPr/>
        </p:nvSpPr>
        <p:spPr>
          <a:xfrm>
            <a:off x="9197035" y="2855671"/>
            <a:ext cx="2179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publicación científica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6" name="Google Shape;786;p20"/>
          <p:cNvPicPr preferRelativeResize="0"/>
          <p:nvPr/>
        </p:nvPicPr>
        <p:blipFill rotWithShape="1">
          <a:blip r:embed="rId13">
            <a:alphaModFix/>
          </a:blip>
          <a:srcRect b="0" l="-760" r="-760" t="0"/>
          <a:stretch/>
        </p:blipFill>
        <p:spPr>
          <a:xfrm>
            <a:off x="1561795" y="3724351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0"/>
          <p:cNvSpPr txBox="1"/>
          <p:nvPr/>
        </p:nvSpPr>
        <p:spPr>
          <a:xfrm>
            <a:off x="1857146" y="3715207"/>
            <a:ext cx="8839505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Roboto"/>
              <a:buNone/>
            </a:pPr>
            <a:r>
              <a:rPr b="1" i="0" lang="en-US" sz="9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Dataset:</a:t>
            </a:r>
            <a:r>
              <a:rPr b="0" i="0" lang="en-US" sz="9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Dafflon, B., Leger, E., &amp; Peterson, J. (2025). Electrical Resistivity Tomography data from 2016 to 2018 at the Lower Montane site in the East River Watershed, Colorado. ESS-DIVE. </a:t>
            </a: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https://doi.org/10.15485/1969563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8" name="Google Shape;788;p20"/>
          <p:cNvPicPr preferRelativeResize="0"/>
          <p:nvPr/>
        </p:nvPicPr>
        <p:blipFill rotWithShape="1">
          <a:blip r:embed="rId14">
            <a:alphaModFix/>
          </a:blip>
          <a:srcRect b="-1448" l="0" r="0" t="-1448"/>
          <a:stretch/>
        </p:blipFill>
        <p:spPr>
          <a:xfrm>
            <a:off x="1557223" y="4200754"/>
            <a:ext cx="161849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20"/>
          <p:cNvSpPr txBox="1"/>
          <p:nvPr/>
        </p:nvSpPr>
        <p:spPr>
          <a:xfrm>
            <a:off x="1857146" y="4209898"/>
            <a:ext cx="88779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Roboto"/>
              <a:buNone/>
            </a:pPr>
            <a:r>
              <a:rPr b="1" i="0" lang="en-US" sz="90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Repositorio:</a:t>
            </a:r>
            <a:r>
              <a:rPr b="0" i="0" lang="en-US" sz="900" u="none" cap="none" strike="noStrik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github.com/santiagocano298366/taller-ert-fundamentos-programacion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 txBox="1"/>
          <p:nvPr/>
        </p:nvSpPr>
        <p:spPr>
          <a:xfrm>
            <a:off x="-95098" y="5143500"/>
            <a:ext cx="12382805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¡Gracias!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0"/>
          <p:cNvSpPr txBox="1"/>
          <p:nvPr/>
        </p:nvSpPr>
        <p:spPr>
          <a:xfrm>
            <a:off x="323698" y="5905195"/>
            <a:ext cx="115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Santiago Cano — Maestría en Automatización — Marzo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0"/>
          <p:cNvSpPr txBox="1"/>
          <p:nvPr/>
        </p:nvSpPr>
        <p:spPr>
          <a:xfrm>
            <a:off x="761695" y="6620256"/>
            <a:ext cx="96396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Santiago Cano | Maestría en Automatización | Taller ERT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0"/>
          <p:cNvSpPr txBox="1"/>
          <p:nvPr/>
        </p:nvSpPr>
        <p:spPr>
          <a:xfrm>
            <a:off x="10972800" y="6620256"/>
            <a:ext cx="4572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